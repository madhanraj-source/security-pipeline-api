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8D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1371600" cy="1371600"/>
          </a:xfrm>
          <a:prstGeom prst="ellipse">
            <a:avLst/>
          </a:prstGeom>
          <a:solidFill>
            <a:srgbClr val="00C8D4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82880"/>
            <a:ext cx="1371600" cy="1371600"/>
          </a:xfrm>
          <a:prstGeom prst="ellipse">
            <a:avLst/>
          </a:prstGeom>
          <a:solidFill>
            <a:srgbClr val="00C8D4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457200"/>
            <a:ext cx="1371600" cy="1371600"/>
          </a:xfrm>
          <a:prstGeom prst="ellipse">
            <a:avLst/>
          </a:prstGeom>
          <a:solidFill>
            <a:srgbClr val="00C8D4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86800" y="4389120"/>
            <a:ext cx="1371600" cy="1371600"/>
          </a:xfrm>
          <a:prstGeom prst="ellipse">
            <a:avLst/>
          </a:prstGeom>
          <a:solidFill>
            <a:srgbClr val="00C8D4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4114800"/>
            <a:ext cx="1371600" cy="1371600"/>
          </a:xfrm>
          <a:prstGeom prst="ellipse">
            <a:avLst/>
          </a:prstGeom>
          <a:solidFill>
            <a:srgbClr val="00C8D4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91440"/>
            <a:ext cx="1371600" cy="1371600"/>
          </a:xfrm>
          <a:prstGeom prst="ellipse">
            <a:avLst/>
          </a:prstGeom>
          <a:solidFill>
            <a:srgbClr val="00C8D4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4754880"/>
            <a:ext cx="1371600" cy="1371600"/>
          </a:xfrm>
          <a:prstGeom prst="ellipse">
            <a:avLst/>
          </a:prstGeom>
          <a:solidFill>
            <a:srgbClr val="00C8D4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0D1F3C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645920"/>
            <a:ext cx="109728" cy="1828800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DevSecOps Pipeline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Secure SDLC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Security • AI Correlation • Developer-Friendly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1325880" cy="3657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97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SAST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20240" y="4297680"/>
            <a:ext cx="1325880" cy="3657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4297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Secrets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4297680"/>
            <a:ext cx="1325880" cy="3657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297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Sec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4297680"/>
            <a:ext cx="1325880" cy="3657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297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SCA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4297680"/>
            <a:ext cx="1325880" cy="3657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297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License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4297680"/>
            <a:ext cx="1325880" cy="3657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4297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Layer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456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DevSecOps fails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713232"/>
          </a:xfrm>
          <a:prstGeom prst="rect">
            <a:avLst/>
          </a:prstGeom>
          <a:solidFill>
            <a:srgbClr val="152A4A"/>
          </a:solidFill>
          <a:ln w="1524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54864" cy="713232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78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56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🛠️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1832" y="10972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Sprawl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3898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disconnected tools, no unified 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773936"/>
            <a:ext cx="4114800" cy="713232"/>
          </a:xfrm>
          <a:prstGeom prst="rect">
            <a:avLst/>
          </a:prstGeom>
          <a:solidFill>
            <a:srgbClr val="152A4A"/>
          </a:solidFill>
          <a:ln w="1524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73936"/>
            <a:ext cx="54864" cy="713232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847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56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41832" y="18653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" y="215798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findings, 80%+ false positives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542032"/>
            <a:ext cx="4114800" cy="713232"/>
          </a:xfrm>
          <a:prstGeom prst="rect">
            <a:avLst/>
          </a:prstGeom>
          <a:solidFill>
            <a:srgbClr val="152A4A"/>
          </a:solidFill>
          <a:ln w="1524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42032"/>
            <a:ext cx="54864" cy="713232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6151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56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1832" y="263347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Ignore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292608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alerts dismissed — not actionable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310128"/>
            <a:ext cx="4114800" cy="713232"/>
          </a:xfrm>
          <a:prstGeom prst="rect">
            <a:avLst/>
          </a:prstGeom>
          <a:solidFill>
            <a:srgbClr val="152A4A"/>
          </a:solidFill>
          <a:ln w="1524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10128"/>
            <a:ext cx="54864" cy="713232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383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56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🚧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1832" y="34015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" y="369417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slows releases instead of enabling them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078224"/>
            <a:ext cx="4114800" cy="713232"/>
          </a:xfrm>
          <a:prstGeom prst="rect">
            <a:avLst/>
          </a:prstGeom>
          <a:solidFill>
            <a:srgbClr val="152A4A"/>
          </a:solidFill>
          <a:ln w="1524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078224"/>
            <a:ext cx="54864" cy="713232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1513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56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41832" y="416966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" y="44622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layer to correlate or prioritize findings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1005840"/>
            <a:ext cx="4114800" cy="3657600"/>
          </a:xfrm>
          <a:prstGeom prst="rect">
            <a:avLst/>
          </a:prstGeom>
          <a:solidFill>
            <a:srgbClr val="152A4A"/>
          </a:solidFill>
          <a:ln w="19050">
            <a:solidFill>
              <a:srgbClr val="FF45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Impact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675120" y="1554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alerts are false positives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22219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675120" y="22677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devs skip security reviews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29352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$4.45M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675120" y="29809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breach cost (IBM 2023)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36484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days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675120" y="369417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 identify+contain breach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4251960"/>
            <a:ext cx="411480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251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Security exists — but is NOT effective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8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Proposed Pipeline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AI-powered secure SDLC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932688" cy="804672"/>
          </a:xfrm>
          <a:prstGeom prst="rect">
            <a:avLst/>
          </a:prstGeom>
          <a:solidFill>
            <a:srgbClr val="152A4A"/>
          </a:solidFill>
          <a:ln w="19050">
            <a:solidFill>
              <a:srgbClr val="7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932688" cy="73152"/>
          </a:xfrm>
          <a:prstGeom prst="rect">
            <a:avLst/>
          </a:prstGeom>
          <a:solidFill>
            <a:srgbClr val="7A9CC0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32588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1288" y="1508760"/>
            <a:ext cx="6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16152" y="1234440"/>
            <a:ext cx="932688" cy="804672"/>
          </a:xfrm>
          <a:prstGeom prst="rect">
            <a:avLst/>
          </a:prstGeom>
          <a:solidFill>
            <a:srgbClr val="152A4A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6152" y="1234440"/>
            <a:ext cx="932688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152" y="132588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16152" y="16916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(SAST)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48840" y="1508760"/>
            <a:ext cx="6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E8"/>
                </a:solidFill>
              </a:rPr>
              <a:t>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03704" y="1234440"/>
            <a:ext cx="932688" cy="804672"/>
          </a:xfrm>
          <a:prstGeom prst="rect">
            <a:avLst/>
          </a:prstGeom>
          <a:solidFill>
            <a:srgbClr val="152A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03704" y="1234440"/>
            <a:ext cx="932688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/>
          <p:nvPr/>
        </p:nvSpPr>
        <p:spPr>
          <a:xfrm>
            <a:off x="2203704" y="132588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03704" y="16916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(Secrets)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36392" y="1508760"/>
            <a:ext cx="6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</a:rPr>
              <a:t>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91256" y="1234440"/>
            <a:ext cx="932688" cy="804672"/>
          </a:xfrm>
          <a:prstGeom prst="rect">
            <a:avLst/>
          </a:prstGeom>
          <a:solidFill>
            <a:srgbClr val="152A4A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91256" y="1234440"/>
            <a:ext cx="932688" cy="7315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3" name="Text 21"/>
          <p:cNvSpPr/>
          <p:nvPr/>
        </p:nvSpPr>
        <p:spPr>
          <a:xfrm>
            <a:off x="3191256" y="132588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191256" y="16916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CLI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23944" y="1508760"/>
            <a:ext cx="6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2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78808" y="1234440"/>
            <a:ext cx="932688" cy="804672"/>
          </a:xfrm>
          <a:prstGeom prst="rect">
            <a:avLst/>
          </a:prstGeom>
          <a:solidFill>
            <a:srgbClr val="152A4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78808" y="1234440"/>
            <a:ext cx="932688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8" name="Text 26"/>
          <p:cNvSpPr/>
          <p:nvPr/>
        </p:nvSpPr>
        <p:spPr>
          <a:xfrm>
            <a:off x="4178808" y="132588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🐳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178808" y="16916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11496" y="1508760"/>
            <a:ext cx="6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</a:rPr>
              <a:t>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66360" y="1234440"/>
            <a:ext cx="932688" cy="804672"/>
          </a:xfrm>
          <a:prstGeom prst="rect">
            <a:avLst/>
          </a:prstGeom>
          <a:solidFill>
            <a:srgbClr val="152A4A"/>
          </a:solidFill>
          <a:ln w="19050">
            <a:solidFill>
              <a:srgbClr val="00C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1234440"/>
            <a:ext cx="932688" cy="73152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132588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📜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166360" y="16916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(License)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99048" y="1508760"/>
            <a:ext cx="6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D4"/>
                </a:solidFill>
              </a:rPr>
              <a:t>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53912" y="1234440"/>
            <a:ext cx="932688" cy="804672"/>
          </a:xfrm>
          <a:prstGeom prst="rect">
            <a:avLst/>
          </a:prstGeom>
          <a:solidFill>
            <a:srgbClr val="152A4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53912" y="1234440"/>
            <a:ext cx="932688" cy="73152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38" name="Text 36"/>
          <p:cNvSpPr/>
          <p:nvPr/>
        </p:nvSpPr>
        <p:spPr>
          <a:xfrm>
            <a:off x="6153912" y="132588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153912" y="16916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(Correlation)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86600" y="1508760"/>
            <a:ext cx="6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7BEE"/>
                </a:solidFill>
              </a:rPr>
              <a:t>→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41464" y="1234440"/>
            <a:ext cx="932688" cy="804672"/>
          </a:xfrm>
          <a:prstGeom prst="rect">
            <a:avLst/>
          </a:prstGeom>
          <a:solidFill>
            <a:srgbClr val="152A4A"/>
          </a:solidFill>
          <a:ln w="19050">
            <a:solidFill>
              <a:srgbClr val="FF6B9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41464" y="1234440"/>
            <a:ext cx="932688" cy="73152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43" name="Text 41"/>
          <p:cNvSpPr/>
          <p:nvPr/>
        </p:nvSpPr>
        <p:spPr>
          <a:xfrm>
            <a:off x="7141464" y="132588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141464" y="16916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(Insights)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2176272"/>
            <a:ext cx="8686800" cy="54864"/>
          </a:xfrm>
          <a:prstGeom prst="rect">
            <a:avLst/>
          </a:prstGeom>
          <a:solidFill>
            <a:srgbClr val="00C8D4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228600" y="2231136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FLOW  →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2606040"/>
            <a:ext cx="2084832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2606040"/>
            <a:ext cx="2084832" cy="5486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9" name="Text 47"/>
          <p:cNvSpPr/>
          <p:nvPr/>
        </p:nvSpPr>
        <p:spPr>
          <a:xfrm>
            <a:off x="393192" y="2679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Analysis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93192" y="29443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+ Secrets scanning at commit level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532888" y="2606040"/>
            <a:ext cx="2084832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32888" y="2606040"/>
            <a:ext cx="208483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3" name="Text 51"/>
          <p:cNvSpPr/>
          <p:nvPr/>
        </p:nvSpPr>
        <p:spPr>
          <a:xfrm>
            <a:off x="2606040" y="2679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Security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606040" y="29443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container vulnerability detection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45736" y="2606040"/>
            <a:ext cx="2084832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45736" y="2606040"/>
            <a:ext cx="2084832" cy="54864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7" name="Text 55"/>
          <p:cNvSpPr/>
          <p:nvPr/>
        </p:nvSpPr>
        <p:spPr>
          <a:xfrm>
            <a:off x="4818888" y="2679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Layer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18888" y="29443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license &amp; dependency risk analysis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58584" y="2606040"/>
            <a:ext cx="2084832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58584" y="2606040"/>
            <a:ext cx="2084832" cy="54864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61" name="Text 59"/>
          <p:cNvSpPr/>
          <p:nvPr/>
        </p:nvSpPr>
        <p:spPr>
          <a:xfrm>
            <a:off x="7031736" y="2679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031736" y="29443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dedup &amp; auto fix suggestions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3547872"/>
            <a:ext cx="8549640" cy="1170432"/>
          </a:xfrm>
          <a:prstGeom prst="rect">
            <a:avLst/>
          </a:prstGeom>
          <a:solidFill>
            <a:srgbClr val="152A4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3547872"/>
            <a:ext cx="8549640" cy="54864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3593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Gauss AI — Core Intelligence Layer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02920" y="3950208"/>
            <a:ext cx="201168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Cross-tool correlation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624328" y="3950208"/>
            <a:ext cx="201168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Root cause analysis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745736" y="3950208"/>
            <a:ext cx="201168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 suggestions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867144" y="3950208"/>
            <a:ext cx="201168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False positive removal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A8E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Semgrep — Static Application Security Testing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code vulnerability detection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474720" cy="804672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54864" cy="80467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78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E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1832" y="109728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38988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concatenated into queries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3474720" cy="804672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74520"/>
            <a:ext cx="54864" cy="80467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9476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E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41832" y="19659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" y="225856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keys/passwords in source code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3474720" cy="804672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43200"/>
            <a:ext cx="54864" cy="80467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163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E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1832" y="283464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312724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authentication checks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611880"/>
            <a:ext cx="3474720" cy="804672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11880"/>
            <a:ext cx="54864" cy="80467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685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E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1832" y="370332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" y="399592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application-level flaws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23360" y="1005840"/>
            <a:ext cx="4800600" cy="1417320"/>
          </a:xfrm>
          <a:prstGeom prst="rect">
            <a:avLst/>
          </a:prstGeom>
          <a:solidFill>
            <a:srgbClr val="0A0E1A"/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1005840"/>
            <a:ext cx="4800600" cy="29260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1005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vulnerable.py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13533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"SELECT * FROM users WHERE id = " + </a:t>
            </a:r>
            <a:pPr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user_input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023360" y="1719072"/>
            <a:ext cx="4800600" cy="54864"/>
          </a:xfrm>
          <a:prstGeom prst="rect">
            <a:avLst/>
          </a:prstGeom>
          <a:solidFill>
            <a:srgbClr val="FF4560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069080" y="177393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Semgrep flags → SQL Injection Risk (CWE-89)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2578608"/>
            <a:ext cx="4800600" cy="2029968"/>
          </a:xfrm>
          <a:prstGeom prst="rect">
            <a:avLst/>
          </a:prstGeom>
          <a:solidFill>
            <a:srgbClr val="152A4A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0" y="2578608"/>
            <a:ext cx="4800600" cy="31089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0" y="2578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Semgrep is Powerful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AI-assisted rules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29443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positives significantly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6052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 scanning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310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1M+ lines in seconds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60520" y="3675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Custom rules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6758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org-specific security policies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60520" y="4041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CI/CD native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40416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PRs with critical findings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16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TruffleHog — Secrets Detection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Git history for leaked credentials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914400"/>
          </a:xfrm>
          <a:prstGeom prst="rect">
            <a:avLst/>
          </a:prstGeom>
          <a:solidFill>
            <a:srgbClr val="152A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leaked on GitHub yearly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914400"/>
          </a:xfrm>
          <a:prstGeom prst="rect">
            <a:avLst/>
          </a:prstGeom>
          <a:solidFill>
            <a:srgbClr val="152A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24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46120" y="1481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types detected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914400"/>
          </a:xfrm>
          <a:prstGeom prst="rect">
            <a:avLst/>
          </a:prstGeom>
          <a:solidFill>
            <a:srgbClr val="152A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024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72200" y="1481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claimed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057400"/>
            <a:ext cx="4160520" cy="2743200"/>
          </a:xfrm>
          <a:prstGeom prst="rect">
            <a:avLst/>
          </a:prstGeom>
          <a:solidFill>
            <a:srgbClr val="152A4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57400"/>
            <a:ext cx="4160520" cy="329184"/>
          </a:xfrm>
          <a:prstGeom prst="rect">
            <a:avLst/>
          </a:prstGeom>
          <a:solidFill>
            <a:srgbClr val="4A3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057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TruffleHog Scans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AWS / GCP / Azure keys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6791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credentials with active validation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8895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 tokens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1181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PAT tokens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3284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Stripe / Twilio keys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5570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comms API secrets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767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SMTP credentials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995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server passwords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DB connection strings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Postgres, MongoDB URIs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2057400"/>
            <a:ext cx="4160520" cy="2743200"/>
          </a:xfrm>
          <a:prstGeom prst="rect">
            <a:avLst/>
          </a:prstGeom>
          <a:solidFill>
            <a:srgbClr val="152A4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057400"/>
            <a:ext cx="4160520" cy="329184"/>
          </a:xfrm>
          <a:prstGeom prst="rect">
            <a:avLst/>
          </a:prstGeom>
          <a:solidFill>
            <a:srgbClr val="4A300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057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 World Scenario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450592"/>
            <a:ext cx="292608" cy="25603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45059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24505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commits code with AWS key accidentally embedded in config file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9504"/>
            <a:ext cx="292608" cy="25603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8895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28895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 scans commit history via Git hooks pre-merge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328416"/>
            <a:ext cx="292608" cy="25603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3284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33284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detected with 99%+ confidence — verified as active credential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767328"/>
            <a:ext cx="292608" cy="25603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7673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20640" y="37673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blocked automatically, dev notified with exact file + line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4206240"/>
            <a:ext cx="292608" cy="25603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42062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20640" y="42062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 recommended — breach prevented before it reaches prod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8C4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Bearer CLI — API Security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insecure endpoints &amp; data exposure risks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51960" cy="1170432"/>
          </a:xfrm>
          <a:prstGeom prst="rect">
            <a:avLst/>
          </a:prstGeom>
          <a:solidFill>
            <a:srgbClr val="152A4A"/>
          </a:solidFill>
          <a:ln w="15240">
            <a:solidFill>
              <a:srgbClr val="FF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170432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Endpoints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4813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accessible without valid token/session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18836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Bearer CLI detects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4251960" cy="1170432"/>
          </a:xfrm>
          <a:prstGeom prst="rect">
            <a:avLst/>
          </a:prstGeom>
          <a:solidFill>
            <a:srgbClr val="152A4A"/>
          </a:solidFill>
          <a:ln w="15240">
            <a:solidFill>
              <a:srgbClr val="FF8C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04288"/>
            <a:ext cx="64008" cy="1170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7977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PII/PHI returned in API responses unmasked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18211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Bearer CLI detects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602736"/>
            <a:ext cx="4251960" cy="1170432"/>
          </a:xfrm>
          <a:prstGeom prst="rect">
            <a:avLst/>
          </a:prstGeom>
          <a:solidFill>
            <a:srgbClr val="152A4A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602736"/>
            <a:ext cx="64008" cy="11704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0120" y="37673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Rate Limiting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407822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&amp; DoS attack vectors open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0120" y="44805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Bearer CLI detects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251960" cy="1170432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005840"/>
            <a:ext cx="64008" cy="117043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🔀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94960" y="11704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Object Authorization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14813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vulnerabilities in resource access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94960" y="18836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Bearer CLI detects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304288"/>
            <a:ext cx="4251960" cy="1170432"/>
          </a:xfrm>
          <a:prstGeom prst="rect">
            <a:avLst/>
          </a:prstGeom>
          <a:solidFill>
            <a:srgbClr val="152A4A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304288"/>
            <a:ext cx="64008" cy="1170432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394960" y="2468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Error Messages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277977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 exposing internal architecture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318211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Bearer CLI detects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3602736"/>
            <a:ext cx="4251960" cy="1170432"/>
          </a:xfrm>
          <a:prstGeom prst="rect">
            <a:avLst/>
          </a:prstGeom>
          <a:solidFill>
            <a:srgbClr val="152A4A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602736"/>
            <a:ext cx="64008" cy="117043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394960" y="37673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Token Handling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407822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secrets, weak algorithms, no expiry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44805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Bearer CLI detects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E5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Trivy — SCA + Container Security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for dependencies, images &amp; OS packages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834640" cy="1572768"/>
          </a:xfrm>
          <a:prstGeom prst="rect">
            <a:avLst/>
          </a:prstGeom>
          <a:solidFill>
            <a:srgbClr val="152A4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283464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15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6093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npm, pip, maven, gradle, composer…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19272" y="1005840"/>
            <a:ext cx="2834640" cy="1572768"/>
          </a:xfrm>
          <a:prstGeom prst="rect">
            <a:avLst/>
          </a:prstGeom>
          <a:solidFill>
            <a:srgbClr val="152A4A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005840"/>
            <a:ext cx="2834640" cy="6400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1115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🐳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19272" y="16093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0712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CVEs, misconfigs, malware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18504" y="1005840"/>
            <a:ext cx="2834640" cy="1572768"/>
          </a:xfrm>
          <a:prstGeom prst="rect">
            <a:avLst/>
          </a:prstGeom>
          <a:solidFill>
            <a:srgbClr val="152A4A"/>
          </a:solidFill>
          <a:ln w="19050">
            <a:solidFill>
              <a:srgbClr val="00C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1005840"/>
            <a:ext cx="2834640" cy="64008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18" name="Text 16"/>
          <p:cNvSpPr/>
          <p:nvPr/>
        </p:nvSpPr>
        <p:spPr>
          <a:xfrm>
            <a:off x="6318504" y="1115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💽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18504" y="16093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Packages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9944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RPM, DEB, Alpine — kernel-level vulns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2834640" cy="1572768"/>
          </a:xfrm>
          <a:prstGeom prst="rect">
            <a:avLst/>
          </a:prstGeom>
          <a:solidFill>
            <a:srgbClr val="152A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724912"/>
            <a:ext cx="283464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8346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0040" y="33284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Files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639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CloudFormation, K8s manifests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19272" y="2724912"/>
            <a:ext cx="2834640" cy="1572768"/>
          </a:xfrm>
          <a:prstGeom prst="rect">
            <a:avLst/>
          </a:prstGeom>
          <a:solidFill>
            <a:srgbClr val="152A4A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9272" y="2724912"/>
            <a:ext cx="2834640" cy="6400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8" name="Text 26"/>
          <p:cNvSpPr/>
          <p:nvPr/>
        </p:nvSpPr>
        <p:spPr>
          <a:xfrm>
            <a:off x="3319272" y="28346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319272" y="33284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10712" y="3639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misconfigurations &amp; RBAC issues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18504" y="2724912"/>
            <a:ext cx="2834640" cy="1572768"/>
          </a:xfrm>
          <a:prstGeom prst="rect">
            <a:avLst/>
          </a:prstGeom>
          <a:solidFill>
            <a:srgbClr val="152A4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18504" y="2724912"/>
            <a:ext cx="2834640" cy="64008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33" name="Text 31"/>
          <p:cNvSpPr/>
          <p:nvPr/>
        </p:nvSpPr>
        <p:spPr>
          <a:xfrm>
            <a:off x="6318504" y="28346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318504" y="33284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9944" y="3639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+ vulnerabilities in codebase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434840"/>
            <a:ext cx="8549640" cy="548640"/>
          </a:xfrm>
          <a:prstGeom prst="rect">
            <a:avLst/>
          </a:prstGeom>
          <a:solidFill>
            <a:srgbClr val="1A0A00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348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Real Case: Trivy detects Log4Shell (CVE-2021-44228) in your dependencies — CVSS 10.0 Critical — before it reaches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8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FossID — OSS License &amp; Compliance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against legal and open-source risks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0" cy="3794760"/>
          </a:xfrm>
          <a:prstGeom prst="rect">
            <a:avLst/>
          </a:prstGeom>
          <a:solidFill>
            <a:srgbClr val="152A4A"/>
          </a:solidFill>
          <a:ln w="12700">
            <a:solidFill>
              <a:srgbClr val="00C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502920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058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License Risk Levels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502920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3716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3716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v2/v3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08960" y="13716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Copyleft — forces open-source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828800"/>
            <a:ext cx="5029200" cy="438912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8288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1828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08960" y="18288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copyleft — very restrictive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286000"/>
            <a:ext cx="502920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2860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2286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08960" y="22860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linking OK, static risky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743200"/>
            <a:ext cx="5029200" cy="438912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7432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27432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 2.0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08960" y="27432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copyleft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200400"/>
            <a:ext cx="502920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2004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32004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/ Apache 2.0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08960" y="32004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Permissive — commercial friendly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657600"/>
            <a:ext cx="5029200" cy="438912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6576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63040" y="36576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 2/3-Clause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08960" y="36576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restrictions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114800"/>
            <a:ext cx="502920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1148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 NONE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63040" y="4114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 / CC0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108960" y="41148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domain — no restrictions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77840" y="1005840"/>
            <a:ext cx="3337560" cy="804672"/>
          </a:xfrm>
          <a:prstGeom prst="rect">
            <a:avLst/>
          </a:prstGeom>
          <a:solidFill>
            <a:srgbClr val="152A4A"/>
          </a:solidFill>
          <a:ln w="1524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77840" y="1005840"/>
            <a:ext cx="54864" cy="804672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0" y="1078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56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199632" y="109728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99632" y="138988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code in proprietary product = forced open-source or lawsuit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77840" y="1920240"/>
            <a:ext cx="3337560" cy="804672"/>
          </a:xfrm>
          <a:prstGeom prst="rect">
            <a:avLst/>
          </a:prstGeom>
          <a:solidFill>
            <a:srgbClr val="152A4A"/>
          </a:solidFill>
          <a:ln w="15240">
            <a:solidFill>
              <a:srgbClr val="00C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77840" y="1920240"/>
            <a:ext cx="54864" cy="804672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44" name="Text 42"/>
          <p:cNvSpPr/>
          <p:nvPr/>
        </p:nvSpPr>
        <p:spPr>
          <a:xfrm>
            <a:off x="5669280" y="19933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D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199632" y="201168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FossID Does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99632" y="230428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OSS usage, maps to SPDX licenses, flags risks in CI/CD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77840" y="2834640"/>
            <a:ext cx="3337560" cy="804672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577840" y="2834640"/>
            <a:ext cx="54864" cy="80467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9" name="Text 47"/>
          <p:cNvSpPr/>
          <p:nvPr/>
        </p:nvSpPr>
        <p:spPr>
          <a:xfrm>
            <a:off x="5669280" y="29077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E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🧰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199632" y="292608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99632" y="321868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FOSSA, WhiteSource/Mend, Black Duck, Snyk Open Source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577840" y="3749040"/>
            <a:ext cx="3337560" cy="804672"/>
          </a:xfrm>
          <a:prstGeom prst="rect">
            <a:avLst/>
          </a:prstGeom>
          <a:solidFill>
            <a:srgbClr val="152A4A"/>
          </a:solidFill>
          <a:ln w="1524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577840" y="3749040"/>
            <a:ext cx="54864" cy="80467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4" name="Text 52"/>
          <p:cNvSpPr/>
          <p:nvPr/>
        </p:nvSpPr>
        <p:spPr>
          <a:xfrm>
            <a:off x="5669280" y="3822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A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6199632" y="384048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99632" y="413308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SBOM (Software Bill of Materials) for audits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57BE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Gauss AI — Core Innovation Layer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100s of alerts into actionable intelligence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152A4A"/>
          </a:solidFill>
          <a:ln w="19050">
            <a:solidFill>
              <a:srgbClr val="FF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4114800" cy="365760"/>
          </a:xfrm>
          <a:prstGeom prst="rect">
            <a:avLst/>
          </a:prstGeom>
          <a:solidFill>
            <a:srgbClr val="FF4560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Gauss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Semgrep: 22 alerts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 TruffleHog: 8 alerts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75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Bearer: 15 alerts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🐳  Trivy: 34 alerts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📜  FossID: 11 alerts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52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Total: 90 raw alerts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38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😱  Developer confusion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⏳  Days to triage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🔥  Critical missed in noise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62272" y="2651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7BEE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4069080" cy="3840480"/>
          </a:xfrm>
          <a:prstGeom prst="rect">
            <a:avLst/>
          </a:prstGeom>
          <a:solidFill>
            <a:srgbClr val="152A4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960120"/>
            <a:ext cx="4069080" cy="365760"/>
          </a:xfrm>
          <a:prstGeom prst="rect">
            <a:avLst/>
          </a:prstGeom>
          <a:solidFill>
            <a:srgbClr val="B57BEE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Gauss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Correlation engine runs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Chained vulnerabilities found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975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85 duplicates removed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5 real issues identified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Auth bypass via SQL inj.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145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Leaked AWS key in commit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Log4j in base image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MED: API returns PII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GPL license conflict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6B9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Centralized Intelligence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 for all security insights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8549640" cy="438912"/>
          </a:xfrm>
          <a:prstGeom prst="rect">
            <a:avLst/>
          </a:prstGeom>
          <a:solidFill>
            <a:srgbClr val="0A1020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 DevSecOps Dashboard   |   Last scan: 2 mins ago   |   Pipeline: main   |   Status: ✅ PASSED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1618488" cy="777240"/>
          </a:xfrm>
          <a:prstGeom prst="rect">
            <a:avLst/>
          </a:prstGeom>
          <a:solidFill>
            <a:srgbClr val="152A4A"/>
          </a:solidFill>
          <a:ln w="15240">
            <a:solidFill>
              <a:srgbClr val="FF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36192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29968" y="1508760"/>
            <a:ext cx="1618488" cy="777240"/>
          </a:xfrm>
          <a:prstGeom prst="rect">
            <a:avLst/>
          </a:prstGeom>
          <a:solidFill>
            <a:srgbClr val="152A4A"/>
          </a:solidFill>
          <a:ln w="1524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1536192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29968" y="1920240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39896" y="1508760"/>
            <a:ext cx="1618488" cy="777240"/>
          </a:xfrm>
          <a:prstGeom prst="rect">
            <a:avLst/>
          </a:prstGeom>
          <a:solidFill>
            <a:srgbClr val="152A4A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1536192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39896" y="1920240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Found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49824" y="1508760"/>
            <a:ext cx="1618488" cy="777240"/>
          </a:xfrm>
          <a:prstGeom prst="rect">
            <a:avLst/>
          </a:prstGeom>
          <a:solidFill>
            <a:srgbClr val="152A4A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1536192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49824" y="1920240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 Removed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59752" y="1508760"/>
            <a:ext cx="1618488" cy="777240"/>
          </a:xfrm>
          <a:prstGeom prst="rect">
            <a:avLst/>
          </a:prstGeom>
          <a:solidFill>
            <a:srgbClr val="152A4A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1536192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59752" y="1920240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Auto-fixable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395728"/>
            <a:ext cx="5303520" cy="2377440"/>
          </a:xfrm>
          <a:prstGeom prst="rect">
            <a:avLst/>
          </a:prstGeom>
          <a:solidFill>
            <a:srgbClr val="15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395728"/>
            <a:ext cx="530352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3957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  Tool          Finding                          AI Fix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5303520" cy="384048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7432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CRIT   Semgrep+Trivy  SQL Inj → RCE chain        ✅ Patch available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145536"/>
            <a:ext cx="53035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1455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HIGH   TruffleHog    AWS Key exposed            ✅ Rotate + vault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547872"/>
            <a:ext cx="5303520" cy="384048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5478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🟠 HIGH   Trivy         Log4j CVE-2021-44228       ✅ Upgrade 2.17+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950208"/>
            <a:ext cx="53035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9502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MED   Bearer        PII in /api/users response  ⚠️ Add masking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4352544"/>
            <a:ext cx="5303520" cy="384048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352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LOW   FossID        GPL license conflict       ℹ️ Review usage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806440" y="2395728"/>
            <a:ext cx="3063240" cy="2377440"/>
          </a:xfrm>
          <a:prstGeom prst="rect">
            <a:avLst/>
          </a:prstGeom>
          <a:solidFill>
            <a:srgbClr val="152A4A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06440" y="2395728"/>
            <a:ext cx="3063240" cy="32004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8" name="Text 36"/>
          <p:cNvSpPr/>
          <p:nvPr/>
        </p:nvSpPr>
        <p:spPr>
          <a:xfrm>
            <a:off x="5897880" y="2395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Fix Suggestion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2761488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cause: </a:t>
            </a:r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 not sanitized
</a:t>
            </a:r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</a:t>
            </a:r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parameterized queries
</a:t>
            </a:r>
            <a:pPr indent="0" marL="0">
              <a:buNone/>
            </a:pPr>
            <a:r>
              <a:rPr lang="en-US" sz="850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'SELECT * FROM users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id = %s', (uid,)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8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Full Coverage — Tools Working Together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SDLC attack vector coverage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854964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148840"/>
            <a:ext cx="8549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TIMELINE →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993392"/>
            <a:ext cx="201168" cy="201168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987552"/>
            <a:ext cx="1371600" cy="914400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987552"/>
            <a:ext cx="1371600" cy="5486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060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1417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1645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scanning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1371600" cy="310896"/>
          </a:xfrm>
          <a:prstGeom prst="rect">
            <a:avLst/>
          </a:prstGeom>
          <a:solidFill>
            <a:srgbClr val="00A8E8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423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59152" y="1993392"/>
            <a:ext cx="201168" cy="20116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Shape 15"/>
          <p:cNvSpPr/>
          <p:nvPr/>
        </p:nvSpPr>
        <p:spPr>
          <a:xfrm>
            <a:off x="1764792" y="987552"/>
            <a:ext cx="1371600" cy="914400"/>
          </a:xfrm>
          <a:prstGeom prst="rect">
            <a:avLst/>
          </a:prstGeom>
          <a:solidFill>
            <a:srgbClr val="152A4A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64792" y="987552"/>
            <a:ext cx="13716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9" name="Text 17"/>
          <p:cNvSpPr/>
          <p:nvPr/>
        </p:nvSpPr>
        <p:spPr>
          <a:xfrm>
            <a:off x="1764792" y="1060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64792" y="1417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64792" y="1645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detection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64792" y="2423160"/>
            <a:ext cx="1371600" cy="310896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764792" y="2423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03904" y="1993392"/>
            <a:ext cx="201168" cy="201168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9544" y="987552"/>
            <a:ext cx="1371600" cy="914400"/>
          </a:xfrm>
          <a:prstGeom prst="rect">
            <a:avLst/>
          </a:prstGeom>
          <a:solidFill>
            <a:srgbClr val="152A4A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9544" y="987552"/>
            <a:ext cx="1371600" cy="54864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7" name="Text 25"/>
          <p:cNvSpPr/>
          <p:nvPr/>
        </p:nvSpPr>
        <p:spPr>
          <a:xfrm>
            <a:off x="3209544" y="1060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🐳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09544" y="1417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9544" y="1645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+ containers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9544" y="2423160"/>
            <a:ext cx="1371600" cy="310896"/>
          </a:xfrm>
          <a:prstGeom prst="rect">
            <a:avLst/>
          </a:prstGeom>
          <a:solidFill>
            <a:srgbClr val="00E5A0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09544" y="2423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48656" y="1993392"/>
            <a:ext cx="201168" cy="201168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33" name="Shape 31"/>
          <p:cNvSpPr/>
          <p:nvPr/>
        </p:nvSpPr>
        <p:spPr>
          <a:xfrm>
            <a:off x="4654296" y="987552"/>
            <a:ext cx="1371600" cy="914400"/>
          </a:xfrm>
          <a:prstGeom prst="rect">
            <a:avLst/>
          </a:prstGeom>
          <a:solidFill>
            <a:srgbClr val="152A4A"/>
          </a:solidFill>
          <a:ln w="15240">
            <a:solidFill>
              <a:srgbClr val="FF8C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4296" y="987552"/>
            <a:ext cx="13716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5" name="Text 33"/>
          <p:cNvSpPr/>
          <p:nvPr/>
        </p:nvSpPr>
        <p:spPr>
          <a:xfrm>
            <a:off x="4654296" y="1060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654296" y="1417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CLI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54296" y="1645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54296" y="2423160"/>
            <a:ext cx="1371600" cy="310896"/>
          </a:xfrm>
          <a:prstGeom prst="rect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654296" y="2423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93408" y="1993392"/>
            <a:ext cx="201168" cy="201168"/>
          </a:xfrm>
          <a:prstGeom prst="ellipse">
            <a:avLst/>
          </a:prstGeom>
          <a:solidFill>
            <a:srgbClr val="00C8D4"/>
          </a:solidFill>
          <a:ln/>
        </p:spPr>
      </p:sp>
      <p:sp>
        <p:nvSpPr>
          <p:cNvPr id="41" name="Shape 39"/>
          <p:cNvSpPr/>
          <p:nvPr/>
        </p:nvSpPr>
        <p:spPr>
          <a:xfrm>
            <a:off x="6099048" y="987552"/>
            <a:ext cx="1371600" cy="914400"/>
          </a:xfrm>
          <a:prstGeom prst="rect">
            <a:avLst/>
          </a:prstGeom>
          <a:solidFill>
            <a:srgbClr val="152A4A"/>
          </a:solidFill>
          <a:ln w="15240">
            <a:solidFill>
              <a:srgbClr val="00C8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9048" y="987552"/>
            <a:ext cx="1371600" cy="54864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43" name="Text 41"/>
          <p:cNvSpPr/>
          <p:nvPr/>
        </p:nvSpPr>
        <p:spPr>
          <a:xfrm>
            <a:off x="6099048" y="1060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📜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099048" y="1417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99048" y="1645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compliance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99048" y="2423160"/>
            <a:ext cx="1371600" cy="310896"/>
          </a:xfrm>
          <a:prstGeom prst="rect">
            <a:avLst/>
          </a:prstGeom>
          <a:solidFill>
            <a:srgbClr val="00C8D4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099048" y="2423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38160" y="1993392"/>
            <a:ext cx="201168" cy="201168"/>
          </a:xfrm>
          <a:prstGeom prst="ellipse">
            <a:avLst/>
          </a:prstGeom>
          <a:solidFill>
            <a:srgbClr val="B57BEE"/>
          </a:solidFill>
          <a:ln/>
        </p:spPr>
      </p:sp>
      <p:sp>
        <p:nvSpPr>
          <p:cNvPr id="49" name="Shape 47"/>
          <p:cNvSpPr/>
          <p:nvPr/>
        </p:nvSpPr>
        <p:spPr>
          <a:xfrm>
            <a:off x="7543800" y="987552"/>
            <a:ext cx="1371600" cy="914400"/>
          </a:xfrm>
          <a:prstGeom prst="rect">
            <a:avLst/>
          </a:prstGeom>
          <a:solidFill>
            <a:srgbClr val="152A4A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43800" y="987552"/>
            <a:ext cx="1371600" cy="54864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51" name="Text 49"/>
          <p:cNvSpPr/>
          <p:nvPr/>
        </p:nvSpPr>
        <p:spPr>
          <a:xfrm>
            <a:off x="7543800" y="1060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543800" y="1417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AI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543800" y="1645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correlation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543800" y="2423160"/>
            <a:ext cx="1371600" cy="310896"/>
          </a:xfrm>
          <a:prstGeom prst="rect">
            <a:avLst/>
          </a:prstGeom>
          <a:solidFill>
            <a:srgbClr val="B57BEE">
              <a:alpha val="8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543800" y="2423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2880360"/>
            <a:ext cx="8549640" cy="1920240"/>
          </a:xfrm>
          <a:prstGeom prst="rect">
            <a:avLst/>
          </a:prstGeom>
          <a:solidFill>
            <a:srgbClr val="152A4A"/>
          </a:solidFill>
          <a:ln w="12700">
            <a:solidFill>
              <a:srgbClr val="00C8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" y="2880360"/>
            <a:ext cx="8549640" cy="31089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8" name="Text 56"/>
          <p:cNvSpPr/>
          <p:nvPr/>
        </p:nvSpPr>
        <p:spPr>
          <a:xfrm>
            <a:off x="411480" y="28803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Attack Vector Coverage Matrix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47472" y="3218688"/>
            <a:ext cx="2194560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542032" y="3218688"/>
            <a:ext cx="1033272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575304" y="3218688"/>
            <a:ext cx="1115568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690872" y="3218688"/>
            <a:ext cx="914400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605272" y="3218688"/>
            <a:ext cx="868680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73952" y="3218688"/>
            <a:ext cx="886968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FossID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360920" y="3218688"/>
            <a:ext cx="1033272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AI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47472" y="3520440"/>
            <a:ext cx="2194560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Injection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542032" y="3520440"/>
            <a:ext cx="1033272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575304" y="3520440"/>
            <a:ext cx="1115568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690872" y="3520440"/>
            <a:ext cx="914400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605272" y="3520440"/>
            <a:ext cx="868680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73952" y="3520440"/>
            <a:ext cx="886968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360920" y="3520440"/>
            <a:ext cx="1033272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7B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47472" y="3822192"/>
            <a:ext cx="2194560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Leakage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542032" y="3822192"/>
            <a:ext cx="1033272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575304" y="3822192"/>
            <a:ext cx="1115568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90872" y="3822192"/>
            <a:ext cx="914400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605272" y="3822192"/>
            <a:ext cx="868680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473952" y="3822192"/>
            <a:ext cx="886968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360920" y="3822192"/>
            <a:ext cx="1033272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7B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47472" y="4123944"/>
            <a:ext cx="2194560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Exploits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542032" y="4123944"/>
            <a:ext cx="1033272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3575304" y="4123944"/>
            <a:ext cx="1115568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90872" y="4123944"/>
            <a:ext cx="914400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605272" y="4123944"/>
            <a:ext cx="868680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473952" y="4123944"/>
            <a:ext cx="886968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7360920" y="4123944"/>
            <a:ext cx="1033272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7B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347472" y="4425696"/>
            <a:ext cx="2194560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CVEs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2542032" y="4425696"/>
            <a:ext cx="1033272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3575304" y="4425696"/>
            <a:ext cx="1115568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90872" y="4425696"/>
            <a:ext cx="914400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5605272" y="4425696"/>
            <a:ext cx="868680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473952" y="4425696"/>
            <a:ext cx="886968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7360920" y="4425696"/>
            <a:ext cx="1033272" cy="283464"/>
          </a:xfrm>
          <a:prstGeom prst="rect">
            <a:avLst/>
          </a:prstGeom>
          <a:solidFill>
            <a:srgbClr val="15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7B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347472" y="4727448"/>
            <a:ext cx="2194560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Violations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2542032" y="4727448"/>
            <a:ext cx="1033272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3575304" y="4727448"/>
            <a:ext cx="1115568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690872" y="4727448"/>
            <a:ext cx="914400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5605272" y="4727448"/>
            <a:ext cx="868680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–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6473952" y="4727448"/>
            <a:ext cx="886968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7360920" y="4727448"/>
            <a:ext cx="1033272" cy="28346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7B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A8E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Industry Usage &amp; Landscape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leading companies secure their SDLC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88920" cy="1325880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2788920" cy="5486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0515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1399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16184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AppSec teams, startups, FAANG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64408" y="960120"/>
            <a:ext cx="2788920" cy="1325880"/>
          </a:xfrm>
          <a:prstGeom prst="rect">
            <a:avLst/>
          </a:prstGeom>
          <a:solidFill>
            <a:srgbClr val="152A4A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960120"/>
            <a:ext cx="2788920" cy="54864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0515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74136" y="1399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74136" y="16184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Kubernetes/cloud-native, Aqua Security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08776" y="960120"/>
            <a:ext cx="2788920" cy="1325880"/>
          </a:xfrm>
          <a:prstGeom prst="rect">
            <a:avLst/>
          </a:prstGeom>
          <a:solidFill>
            <a:srgbClr val="152A4A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960120"/>
            <a:ext cx="278892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/>
          <p:nvPr/>
        </p:nvSpPr>
        <p:spPr>
          <a:xfrm>
            <a:off x="6318504" y="10515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18504" y="1399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18504" y="16184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GitLab CI, pre-commit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468880"/>
            <a:ext cx="2788920" cy="1325880"/>
          </a:xfrm>
          <a:prstGeom prst="rect">
            <a:avLst/>
          </a:prstGeom>
          <a:solidFill>
            <a:srgbClr val="152A4A"/>
          </a:solidFill>
          <a:ln w="15240">
            <a:solidFill>
              <a:srgbClr val="FF8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468880"/>
            <a:ext cx="278892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2560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CLI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" y="2907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9768" y="31272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companies, fintech, healthtech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64408" y="2468880"/>
            <a:ext cx="2788920" cy="1325880"/>
          </a:xfrm>
          <a:prstGeom prst="rect">
            <a:avLst/>
          </a:prstGeom>
          <a:solidFill>
            <a:srgbClr val="152A4A"/>
          </a:solidFill>
          <a:ln w="15240">
            <a:solidFill>
              <a:srgbClr val="00C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64408" y="2468880"/>
            <a:ext cx="2788920" cy="54864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28" name="Text 26"/>
          <p:cNvSpPr/>
          <p:nvPr/>
        </p:nvSpPr>
        <p:spPr>
          <a:xfrm>
            <a:off x="3374136" y="2560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FossID / Snyk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74136" y="2907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74136" y="31272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with compliance requirements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08776" y="2468880"/>
            <a:ext cx="2788920" cy="1325880"/>
          </a:xfrm>
          <a:prstGeom prst="rect">
            <a:avLst/>
          </a:prstGeom>
          <a:solidFill>
            <a:srgbClr val="152A4A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2468880"/>
            <a:ext cx="2788920" cy="54864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33" name="Text 31"/>
          <p:cNvSpPr/>
          <p:nvPr/>
        </p:nvSpPr>
        <p:spPr>
          <a:xfrm>
            <a:off x="6318504" y="2560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AI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18504" y="2907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18504" y="31272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AI-first security teams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913632"/>
            <a:ext cx="8549640" cy="932688"/>
          </a:xfrm>
          <a:prstGeom prst="rect">
            <a:avLst/>
          </a:prstGeom>
          <a:solidFill>
            <a:srgbClr val="1A0A00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The Industry Gap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251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Tools used in silos — no unified correlation layer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AI to connect findings across tools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Developers still overwhelmed by fragmented alerts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0" y="4160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Your pipeline bridges this gap with Gauss AI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456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Problems in Current DevSecOps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pipelines underperform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49640" cy="868680"/>
          </a:xfrm>
          <a:prstGeom prst="rect">
            <a:avLst/>
          </a:prstGeom>
          <a:solidFill>
            <a:srgbClr val="152A4A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868680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78992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Sprawl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426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tools per org, each with own UI, alerts, configs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33756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75120" y="12618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teams use 10+ security tools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965960"/>
            <a:ext cx="8549640" cy="868680"/>
          </a:xfrm>
          <a:prstGeom prst="rect">
            <a:avLst/>
          </a:prstGeom>
          <a:solidFill>
            <a:srgbClr val="152A4A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965960"/>
            <a:ext cx="64008" cy="868680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659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78992" y="2057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Findings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3865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CVE reported by 3-4 tools — wastes triage 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2057400"/>
            <a:ext cx="333756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20574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3-4x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675120" y="22219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across toolset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8549640" cy="868680"/>
          </a:xfrm>
          <a:prstGeom prst="rect">
            <a:avLst/>
          </a:prstGeom>
          <a:solidFill>
            <a:srgbClr val="152A4A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26080"/>
            <a:ext cx="64008" cy="868680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9260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78992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3346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alerts treated equally — critical buried in noise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94960" y="3017520"/>
            <a:ext cx="333756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30175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675120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alerts never reviewed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886200"/>
            <a:ext cx="8549640" cy="868680"/>
          </a:xfrm>
          <a:prstGeom prst="rect">
            <a:avLst/>
          </a:prstGeom>
          <a:solidFill>
            <a:srgbClr val="152A4A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886200"/>
            <a:ext cx="64008" cy="868680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8862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😫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078992" y="3977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Overload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78992" y="4306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30%+ time on false positive triage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94960" y="3977640"/>
            <a:ext cx="333756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9776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675120" y="41422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time wasted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Your Pipeline vs Traditional DevSecOps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 shift in security intelligence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496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72968" y="960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DevSecOps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25896" y="960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8549640" cy="438912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371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3716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3716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Tool-based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25896" y="13716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25896" y="1371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AI-driven intelligence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854964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8288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2968" y="18288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18288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50-100+ raw alerts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25896" y="18288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18288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5-10 actionable insights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286000"/>
            <a:ext cx="8549640" cy="438912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2860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Guidance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72968" y="22860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22860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investigation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25896" y="22860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25896" y="22860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AI-generated fix suggestions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743200"/>
            <a:ext cx="854964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27432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72968" y="27432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72968" y="2743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Fragmented dashboards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25896" y="27432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27432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Unified central dashboard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200400"/>
            <a:ext cx="8549640" cy="438912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2004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72968" y="32004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72968" y="32004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None — siloed tools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25896" y="32004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25896" y="32004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Cross-tool finding chains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657600"/>
            <a:ext cx="854964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657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72968" y="36576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2968" y="36576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Days to triage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25896" y="36576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25896" y="3657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Minutes with AI priority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114800"/>
            <a:ext cx="8549640" cy="438912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41148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Experience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72968" y="41148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72968" y="41148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Overwhelming / ignored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25896" y="41148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25896" y="41148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Friendly + actionable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572000"/>
            <a:ext cx="854964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" y="45720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172968" y="45720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72968" y="45720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Reactive — fix after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25896" y="4572000"/>
            <a:ext cx="0" cy="43891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25896" y="45720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Proactive — prevent first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57BE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Advantages in Security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intelligence layer changes everything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60520" cy="1828800"/>
          </a:xfrm>
          <a:prstGeom prst="rect">
            <a:avLst/>
          </a:prstGeom>
          <a:solidFill>
            <a:srgbClr val="152A4A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87552"/>
            <a:ext cx="4160520" cy="6400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52144"/>
            <a:ext cx="502920" cy="50292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52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" y="1170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Noise Reduction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 alerts across all tools. Correlates related findings into single root cause. Typical reduction: 80-90% fewer alerts.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87552"/>
            <a:ext cx="4160520" cy="1828800"/>
          </a:xfrm>
          <a:prstGeom prst="rect">
            <a:avLst/>
          </a:prstGeom>
          <a:solidFill>
            <a:srgbClr val="152A4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87552"/>
            <a:ext cx="416052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0600" y="1152144"/>
            <a:ext cx="502920" cy="50292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152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13248" y="1170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Smart Prioritization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645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exploitable, high-impact issues. Context-aware scoring considers your stack, environment, and exposure level.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99232"/>
            <a:ext cx="4160520" cy="1828800"/>
          </a:xfrm>
          <a:prstGeom prst="rect">
            <a:avLst/>
          </a:prstGeom>
          <a:solidFill>
            <a:srgbClr val="152A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999232"/>
            <a:ext cx="416052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63824"/>
            <a:ext cx="502920" cy="5029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69848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Auto Fix Suggestions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code-level fix recommendations. Shows exact change needed with references to secure patterns and CVE mitigations.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999232"/>
            <a:ext cx="4160520" cy="1828800"/>
          </a:xfrm>
          <a:prstGeom prst="rect">
            <a:avLst/>
          </a:prstGeom>
          <a:solidFill>
            <a:srgbClr val="152A4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999232"/>
            <a:ext cx="4160520" cy="64008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3163824"/>
            <a:ext cx="502920" cy="502920"/>
          </a:xfrm>
          <a:prstGeom prst="ellipse">
            <a:avLst/>
          </a:prstGeom>
          <a:solidFill>
            <a:srgbClr val="B57BEE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3248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Learning System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with every scan cycle. Learns your codebase patterns. Reduces false positives over time through feedback loops.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E5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Developer Productivity &amp; Business Impact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from your pipeline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14800" cy="3840480"/>
          </a:xfrm>
          <a:prstGeom prst="rect">
            <a:avLst/>
          </a:prstGeom>
          <a:solidFill>
            <a:srgbClr val="152A4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87552"/>
            <a:ext cx="4114800" cy="347472"/>
          </a:xfrm>
          <a:prstGeom prst="rect">
            <a:avLst/>
          </a:prstGeom>
          <a:solidFill>
            <a:srgbClr val="0A2E1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Developer Impact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44752"/>
            <a:ext cx="3840480" cy="658368"/>
          </a:xfrm>
          <a:prstGeom prst="rect">
            <a:avLst/>
          </a:prstGeom>
          <a:solidFill>
            <a:srgbClr val="1E3A5F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447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37360" y="15544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security triage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3840480" cy="658368"/>
          </a:xfrm>
          <a:prstGeom prst="rect">
            <a:avLst/>
          </a:prstGeom>
          <a:solidFill>
            <a:srgbClr val="1E3A5F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1284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37360" y="23225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context switching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3840480" cy="658368"/>
          </a:xfrm>
          <a:prstGeom prst="rect">
            <a:avLst/>
          </a:prstGeom>
          <a:solidFill>
            <a:srgbClr val="1E3A5F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80944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37360" y="30906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positives to chase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840480" cy="658368"/>
          </a:xfrm>
          <a:prstGeom prst="rect">
            <a:avLst/>
          </a:prstGeom>
          <a:solidFill>
            <a:srgbClr val="1E3A5F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737360" y="38587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suggestions in dashboard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987552"/>
            <a:ext cx="4114800" cy="3840480"/>
          </a:xfrm>
          <a:prstGeom prst="rect">
            <a:avLst/>
          </a:prstGeom>
          <a:solidFill>
            <a:srgbClr val="152A4A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987552"/>
            <a:ext cx="4114800" cy="347472"/>
          </a:xfrm>
          <a:prstGeom prst="rect">
            <a:avLst/>
          </a:prstGeom>
          <a:solidFill>
            <a:srgbClr val="00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Business Impact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840480" cy="658368"/>
          </a:xfrm>
          <a:prstGeom prst="rect">
            <a:avLst/>
          </a:prstGeom>
          <a:solidFill>
            <a:srgbClr val="1E3A5F"/>
          </a:solidFill>
          <a:ln w="10160">
            <a:solidFill>
              <a:srgbClr val="00A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4447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15544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security cost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212848"/>
            <a:ext cx="3840480" cy="658368"/>
          </a:xfrm>
          <a:prstGeom prst="rect">
            <a:avLst/>
          </a:prstGeom>
          <a:solidFill>
            <a:srgbClr val="1E3A5F"/>
          </a:solidFill>
          <a:ln w="10160">
            <a:solidFill>
              <a:srgbClr val="00A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1284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26480" y="23225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release cycles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980944"/>
            <a:ext cx="3840480" cy="658368"/>
          </a:xfrm>
          <a:prstGeom prst="rect">
            <a:avLst/>
          </a:prstGeom>
          <a:solidFill>
            <a:srgbClr val="1E3A5F"/>
          </a:solidFill>
          <a:ln w="10160">
            <a:solidFill>
              <a:srgbClr val="00A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980944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26480" y="30906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breach risk score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749040"/>
            <a:ext cx="3840480" cy="658368"/>
          </a:xfrm>
          <a:prstGeom prst="rect">
            <a:avLst/>
          </a:prstGeom>
          <a:solidFill>
            <a:srgbClr val="1E3A5F"/>
          </a:solidFill>
          <a:ln w="10160">
            <a:solidFill>
              <a:srgbClr val="00A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74904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126480" y="38587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ready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Real-World Scenario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concrete difference Gauss AI makes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3840480"/>
          </a:xfrm>
          <a:prstGeom prst="rect">
            <a:avLst/>
          </a:prstGeom>
          <a:solidFill>
            <a:srgbClr val="152A4A"/>
          </a:solidFill>
          <a:ln w="19050">
            <a:solidFill>
              <a:srgbClr val="FF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160520" cy="384048"/>
          </a:xfrm>
          <a:prstGeom prst="rect">
            <a:avLst/>
          </a:prstGeom>
          <a:solidFill>
            <a:srgbClr val="FF4560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Your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Semgrep: 22 raw findings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TruffleHog: 8 raw findings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CLI: 15 raw findings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Trivy: 41 raw findings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FossID: 14 raw findings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total alerts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reaction: ignore all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review: 3 days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issues found: maybe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Breach prevented: ❌ 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62272" y="2606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800600" y="960120"/>
            <a:ext cx="4069080" cy="3840480"/>
          </a:xfrm>
          <a:prstGeom prst="rect">
            <a:avLst/>
          </a:prstGeom>
          <a:solidFill>
            <a:srgbClr val="152A4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960120"/>
            <a:ext cx="4069080" cy="384048"/>
          </a:xfrm>
          <a:prstGeom prst="rect">
            <a:avLst/>
          </a:prstGeom>
          <a:solidFill>
            <a:srgbClr val="00E5A0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960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Your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 AI correlates all findings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Deduplication: 88 removed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1965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Chained vulns: 3 found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real, unique issues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CRITICAL: SQL Inj + RCE chain → PATCH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HIGH: Leaked AWS key → ROTATE NOW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3611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HIGH: Log4j → UPGRADE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MED: PII in API → MASK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LOW: GPL license → REVIEW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4434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4709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Breach prevented: ✅ YES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57BE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/>
        </p:spPr>
        <p:txBody>
          <a:bodyPr wrap="square" lIns="0" tIns="5715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Scope &amp;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pipeline evolves next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057400" cy="3840480"/>
          </a:xfrm>
          <a:prstGeom prst="rect">
            <a:avLst/>
          </a:prstGeom>
          <a:solidFill>
            <a:srgbClr val="152A4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2057400" cy="9144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960120"/>
            <a:ext cx="2057400" cy="384048"/>
          </a:xfrm>
          <a:prstGeom prst="rect">
            <a:avLst/>
          </a:prstGeom>
          <a:solidFill>
            <a:srgbClr val="00E5A0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9875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" y="1444752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" y="1408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+ Secrets scanning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011680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" y="2578608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SCA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" y="3145536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correlation layer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3712464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dashboard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960120"/>
            <a:ext cx="2057400" cy="3840480"/>
          </a:xfrm>
          <a:prstGeom prst="rect">
            <a:avLst/>
          </a:prstGeom>
          <a:solidFill>
            <a:srgbClr val="152A4A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60120"/>
            <a:ext cx="2057400" cy="9144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60120"/>
            <a:ext cx="2057400" cy="384048"/>
          </a:xfrm>
          <a:prstGeom prst="rect">
            <a:avLst/>
          </a:prstGeom>
          <a:solidFill>
            <a:srgbClr val="00A8E8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587752" y="9875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6 months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24328" y="1444752"/>
            <a:ext cx="164592" cy="164592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5" name="Text 23"/>
          <p:cNvSpPr/>
          <p:nvPr/>
        </p:nvSpPr>
        <p:spPr>
          <a:xfrm>
            <a:off x="2843784" y="1408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plugin integration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24328" y="2011680"/>
            <a:ext cx="164592" cy="164592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7" name="Text 25"/>
          <p:cNvSpPr/>
          <p:nvPr/>
        </p:nvSpPr>
        <p:spPr>
          <a:xfrm>
            <a:off x="2843784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dev feedback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24328" y="2578608"/>
            <a:ext cx="164592" cy="164592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9" name="Text 27"/>
          <p:cNvSpPr/>
          <p:nvPr/>
        </p:nvSpPr>
        <p:spPr>
          <a:xfrm>
            <a:off x="2843784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Slack/Jira alerts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24328" y="3145536"/>
            <a:ext cx="164592" cy="164592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31" name="Text 29"/>
          <p:cNvSpPr/>
          <p:nvPr/>
        </p:nvSpPr>
        <p:spPr>
          <a:xfrm>
            <a:off x="2843784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 comments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24328" y="3712464"/>
            <a:ext cx="164592" cy="164592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33" name="Text 31"/>
          <p:cNvSpPr/>
          <p:nvPr/>
        </p:nvSpPr>
        <p:spPr>
          <a:xfrm>
            <a:off x="2843784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policy rules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960120"/>
            <a:ext cx="2057400" cy="3840480"/>
          </a:xfrm>
          <a:prstGeom prst="rect">
            <a:avLst/>
          </a:prstGeom>
          <a:solidFill>
            <a:srgbClr val="152A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960120"/>
            <a:ext cx="2057400" cy="914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6" name="Shape 34"/>
          <p:cNvSpPr/>
          <p:nvPr/>
        </p:nvSpPr>
        <p:spPr>
          <a:xfrm>
            <a:off x="4709160" y="960120"/>
            <a:ext cx="2057400" cy="384048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9875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12 months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18888" y="1444752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9" name="Text 37"/>
          <p:cNvSpPr/>
          <p:nvPr/>
        </p:nvSpPr>
        <p:spPr>
          <a:xfrm>
            <a:off x="5038344" y="1408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PRs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18888" y="2011680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1" name="Text 39"/>
          <p:cNvSpPr/>
          <p:nvPr/>
        </p:nvSpPr>
        <p:spPr>
          <a:xfrm>
            <a:off x="5038344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vuln detection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18888" y="2578608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3" name="Text 41"/>
          <p:cNvSpPr/>
          <p:nvPr/>
        </p:nvSpPr>
        <p:spPr>
          <a:xfrm>
            <a:off x="5038344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18888" y="3145536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5" name="Text 43"/>
          <p:cNvSpPr/>
          <p:nvPr/>
        </p:nvSpPr>
        <p:spPr>
          <a:xfrm>
            <a:off x="5038344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monitoring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18888" y="3712464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7" name="Text 45"/>
          <p:cNvSpPr/>
          <p:nvPr/>
        </p:nvSpPr>
        <p:spPr>
          <a:xfrm>
            <a:off x="5038344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pipelines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960120"/>
            <a:ext cx="2057400" cy="3840480"/>
          </a:xfrm>
          <a:prstGeom prst="rect">
            <a:avLst/>
          </a:prstGeom>
          <a:solidFill>
            <a:srgbClr val="152A4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960120"/>
            <a:ext cx="2057400" cy="91440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50" name="Shape 48"/>
          <p:cNvSpPr/>
          <p:nvPr/>
        </p:nvSpPr>
        <p:spPr>
          <a:xfrm>
            <a:off x="6903720" y="960120"/>
            <a:ext cx="2057400" cy="384048"/>
          </a:xfrm>
          <a:prstGeom prst="rect">
            <a:avLst/>
          </a:prstGeom>
          <a:solidFill>
            <a:srgbClr val="B57BEE">
              <a:alpha val="2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976872" y="9875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2026+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013448" y="1444752"/>
            <a:ext cx="164592" cy="164592"/>
          </a:xfrm>
          <a:prstGeom prst="ellipse">
            <a:avLst/>
          </a:prstGeom>
          <a:solidFill>
            <a:srgbClr val="B57BEE"/>
          </a:solidFill>
          <a:ln/>
        </p:spPr>
      </p:sp>
      <p:sp>
        <p:nvSpPr>
          <p:cNvPr id="53" name="Text 51"/>
          <p:cNvSpPr/>
          <p:nvPr/>
        </p:nvSpPr>
        <p:spPr>
          <a:xfrm>
            <a:off x="7232904" y="1408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secure code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013448" y="2011680"/>
            <a:ext cx="164592" cy="164592"/>
          </a:xfrm>
          <a:prstGeom prst="ellipse">
            <a:avLst/>
          </a:prstGeom>
          <a:solidFill>
            <a:srgbClr val="B57BEE"/>
          </a:solidFill>
          <a:ln/>
        </p:spPr>
      </p:sp>
      <p:sp>
        <p:nvSpPr>
          <p:cNvPr id="55" name="Text 53"/>
          <p:cNvSpPr/>
          <p:nvPr/>
        </p:nvSpPr>
        <p:spPr>
          <a:xfrm>
            <a:off x="7232904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security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13448" y="2578608"/>
            <a:ext cx="164592" cy="164592"/>
          </a:xfrm>
          <a:prstGeom prst="ellipse">
            <a:avLst/>
          </a:prstGeom>
          <a:solidFill>
            <a:srgbClr val="B57BEE"/>
          </a:solidFill>
          <a:ln/>
        </p:spPr>
      </p:sp>
      <p:sp>
        <p:nvSpPr>
          <p:cNvPr id="57" name="Text 55"/>
          <p:cNvSpPr/>
          <p:nvPr/>
        </p:nvSpPr>
        <p:spPr>
          <a:xfrm>
            <a:off x="7232904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patching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013448" y="3145536"/>
            <a:ext cx="164592" cy="164592"/>
          </a:xfrm>
          <a:prstGeom prst="ellipse">
            <a:avLst/>
          </a:prstGeom>
          <a:solidFill>
            <a:srgbClr val="B57BEE"/>
          </a:solidFill>
          <a:ln/>
        </p:spPr>
      </p:sp>
      <p:sp>
        <p:nvSpPr>
          <p:cNvPr id="59" name="Text 57"/>
          <p:cNvSpPr/>
          <p:nvPr/>
        </p:nvSpPr>
        <p:spPr>
          <a:xfrm>
            <a:off x="7232904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AI guard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013448" y="3712464"/>
            <a:ext cx="164592" cy="164592"/>
          </a:xfrm>
          <a:prstGeom prst="ellipse">
            <a:avLst/>
          </a:prstGeom>
          <a:solidFill>
            <a:srgbClr val="B57BEE"/>
          </a:solidFill>
          <a:ln/>
        </p:spPr>
      </p:sp>
      <p:sp>
        <p:nvSpPr>
          <p:cNvPr id="61" name="Text 59"/>
          <p:cNvSpPr/>
          <p:nvPr/>
        </p:nvSpPr>
        <p:spPr>
          <a:xfrm>
            <a:off x="7232904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AI compliance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3774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CC0"/>
                </a:solidFill>
              </a:rPr>
              <a:t>→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57200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CC0"/>
                </a:solidFill>
              </a:rPr>
              <a:t>→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665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CC0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8D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274320"/>
            <a:ext cx="1828800" cy="1828800"/>
          </a:xfrm>
          <a:prstGeom prst="ellipse">
            <a:avLst/>
          </a:prstGeom>
          <a:solidFill>
            <a:srgbClr val="00C8D4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4572000"/>
            <a:ext cx="1828800" cy="1828800"/>
          </a:xfrm>
          <a:prstGeom prst="ellipse">
            <a:avLst/>
          </a:prstGeom>
          <a:solidFill>
            <a:srgbClr val="00C8D4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4754880"/>
            <a:ext cx="1828800" cy="1828800"/>
          </a:xfrm>
          <a:prstGeom prst="ellipse">
            <a:avLst/>
          </a:prstGeom>
          <a:solidFill>
            <a:srgbClr val="00C8D4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"/>
            <a:ext cx="1828800" cy="1828800"/>
          </a:xfrm>
          <a:prstGeom prst="ellipse">
            <a:avLst/>
          </a:prstGeom>
          <a:solidFill>
            <a:srgbClr val="00C8D4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0D1F3C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371600"/>
            <a:ext cx="137160" cy="2560320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Conclusion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Pipeline = DevSecOps + AI + Intelligence Layer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scanning — but Understanding + Fixing security at scale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685800" cy="685800"/>
          </a:xfrm>
          <a:prstGeom prst="ellipse">
            <a:avLst/>
          </a:prstGeom>
          <a:solidFill>
            <a:srgbClr val="00C8D4">
              <a:alpha val="80000"/>
            </a:srgbClr>
          </a:solidFill>
          <a:ln w="19050">
            <a:solidFill>
              <a:srgbClr val="00C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" y="3977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" y="42245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vector covered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D4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48840" y="3246120"/>
            <a:ext cx="685800" cy="685800"/>
          </a:xfrm>
          <a:prstGeom prst="ellipse">
            <a:avLst/>
          </a:prstGeom>
          <a:solidFill>
            <a:srgbClr val="00C8D4">
              <a:alpha val="80000"/>
            </a:srgbClr>
          </a:solidFill>
          <a:ln w="19050">
            <a:solidFill>
              <a:srgbClr val="00C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20240" y="3977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42245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the chain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34640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D4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0" y="3246120"/>
            <a:ext cx="685800" cy="685800"/>
          </a:xfrm>
          <a:prstGeom prst="ellipse">
            <a:avLst/>
          </a:prstGeom>
          <a:solidFill>
            <a:srgbClr val="00C8D4">
              <a:alpha val="80000"/>
            </a:srgbClr>
          </a:solidFill>
          <a:ln w="19050">
            <a:solidFill>
              <a:srgbClr val="00C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11880" y="3977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11880" y="42245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issues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26280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D4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32120" y="3246120"/>
            <a:ext cx="685800" cy="685800"/>
          </a:xfrm>
          <a:prstGeom prst="ellipse">
            <a:avLst/>
          </a:prstGeom>
          <a:solidFill>
            <a:srgbClr val="00C8D4">
              <a:alpha val="80000"/>
            </a:srgbClr>
          </a:solidFill>
          <a:ln w="19050">
            <a:solidFill>
              <a:srgbClr val="00C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03520" y="3977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42245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resolution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D4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23760" y="3246120"/>
            <a:ext cx="685800" cy="685800"/>
          </a:xfrm>
          <a:prstGeom prst="ellipse">
            <a:avLst/>
          </a:prstGeom>
          <a:solidFill>
            <a:srgbClr val="00C8D4">
              <a:alpha val="80000"/>
            </a:srgbClr>
          </a:solidFill>
          <a:ln w="19050">
            <a:solidFill>
              <a:srgbClr val="00C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995160" y="3977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42245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over time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DevSecOps Pipeline  |  Secure • Intelligent • Developer-First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DevSecOps Pipeline</dc:title>
  <dc:subject>PptxGenJS Presentation</dc:subject>
  <dc:creator>PptxGenJS</dc:creator>
  <cp:lastModifiedBy>PptxGenJS</cp:lastModifiedBy>
  <cp:revision>1</cp:revision>
  <dcterms:created xsi:type="dcterms:W3CDTF">2026-04-05T23:54:20Z</dcterms:created>
  <dcterms:modified xsi:type="dcterms:W3CDTF">2026-04-05T23:54:20Z</dcterms:modified>
</cp:coreProperties>
</file>