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91440"/>
            <a:ext cx="2011680" cy="2011680"/>
          </a:xfrm>
          <a:prstGeom prst="ellipse">
            <a:avLst/>
          </a:prstGeom>
          <a:solidFill>
            <a:srgbClr val="00C8D4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4206240"/>
            <a:ext cx="1645920" cy="1645920"/>
          </a:xfrm>
          <a:prstGeom prst="ellipse">
            <a:avLst/>
          </a:prstGeom>
          <a:solidFill>
            <a:srgbClr val="00C8D4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480560" y="-91440"/>
            <a:ext cx="1371600" cy="1371600"/>
          </a:xfrm>
          <a:prstGeom prst="ellipse">
            <a:avLst/>
          </a:prstGeom>
          <a:solidFill>
            <a:srgbClr val="00C8D4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" y="3931920"/>
            <a:ext cx="1463040" cy="1463040"/>
          </a:xfrm>
          <a:prstGeom prst="ellipse">
            <a:avLst/>
          </a:prstGeom>
          <a:solidFill>
            <a:srgbClr val="00C8D4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0"/>
            <a:ext cx="1280160" cy="1280160"/>
          </a:xfrm>
          <a:prstGeom prst="ellipse">
            <a:avLst/>
          </a:prstGeom>
          <a:solidFill>
            <a:srgbClr val="00C8D4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143000"/>
            <a:ext cx="9144000" cy="2286000"/>
          </a:xfrm>
          <a:prstGeom prst="rect">
            <a:avLst/>
          </a:prstGeom>
          <a:solidFill>
            <a:srgbClr val="0D1F3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164592" cy="2286000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DevSecOps Pipeline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" y="2103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Secure SDLC  ·  Intelligent Security  ·  Developer-First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487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vulnerability  →  Correlate with AI  →  Fix fast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· SAST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1051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· Secrets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7355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·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3659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SCA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963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00C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 · License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62672" y="3127248"/>
            <a:ext cx="1371600" cy="347472"/>
          </a:xfrm>
          <a:prstGeom prst="rect">
            <a:avLst/>
          </a:prstGeom>
          <a:solidFill>
            <a:srgbClr val="1E3A5F"/>
          </a:solidFill>
          <a:ln w="1397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AI · Correlate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920240" cy="1078992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49040"/>
            <a:ext cx="192024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94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90→5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43616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to insights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33472" y="3749040"/>
            <a:ext cx="1920240" cy="1078992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33472" y="3749040"/>
            <a:ext cx="192024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31" name="Text 29"/>
          <p:cNvSpPr/>
          <p:nvPr/>
        </p:nvSpPr>
        <p:spPr>
          <a:xfrm>
            <a:off x="2633472" y="3794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633472" y="43616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9744" y="3749040"/>
            <a:ext cx="1920240" cy="1078992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9744" y="3749040"/>
            <a:ext cx="192024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35" name="Text 33"/>
          <p:cNvSpPr/>
          <p:nvPr/>
        </p:nvSpPr>
        <p:spPr>
          <a:xfrm>
            <a:off x="4809744" y="3794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809744" y="43616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86016" y="3749040"/>
            <a:ext cx="1920240" cy="1078992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86016" y="3749040"/>
            <a:ext cx="1920240" cy="54864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39" name="Text 37"/>
          <p:cNvSpPr/>
          <p:nvPr/>
        </p:nvSpPr>
        <p:spPr>
          <a:xfrm>
            <a:off x="6986016" y="3794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986016" y="43616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missed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 With Traditional DevSecOps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4572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pipelines create security theater, not security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5074920" cy="731520"/>
          </a:xfrm>
          <a:prstGeom prst="rect">
            <a:avLst/>
          </a:prstGeom>
          <a:solidFill>
            <a:srgbClr val="152A4A"/>
          </a:solidFill>
          <a:ln w="15240">
            <a:solidFill>
              <a:srgbClr val="FF4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49808"/>
            <a:ext cx="64008" cy="731520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22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disconnected tools — no unified view or correlation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581912"/>
            <a:ext cx="5074920" cy="731520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581912"/>
            <a:ext cx="64008" cy="7315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655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9293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false positives — developers tune out all security alerts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414016"/>
            <a:ext cx="5074920" cy="731520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414016"/>
            <a:ext cx="64008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treated equal — critical issues buried in noise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246120"/>
            <a:ext cx="5074920" cy="731520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246120"/>
            <a:ext cx="64008" cy="7315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19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 block releases instead of enabling fast delivery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4078224"/>
            <a:ext cx="5074920" cy="73152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4078224"/>
            <a:ext cx="64008" cy="731520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151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4256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intelligence to connect dots across tools — each silo is blind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749808"/>
            <a:ext cx="3401568" cy="4133088"/>
          </a:xfrm>
          <a:prstGeom prst="rect">
            <a:avLst/>
          </a:prstGeom>
          <a:solidFill>
            <a:srgbClr val="152A4A"/>
          </a:solidFill>
          <a:ln w="19050">
            <a:solidFill>
              <a:srgbClr val="FF4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749808"/>
            <a:ext cx="3401568" cy="402336"/>
          </a:xfrm>
          <a:prstGeom prst="rect">
            <a:avLst/>
          </a:prstGeom>
          <a:solidFill>
            <a:srgbClr val="2E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7498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87568" y="1243584"/>
            <a:ext cx="3182112" cy="7863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687568" y="1243584"/>
            <a:ext cx="13898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077456" y="1335024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security alerts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false positives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87568" y="2139696"/>
            <a:ext cx="3182112" cy="7863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687568" y="2139696"/>
            <a:ext cx="13898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077456" y="223113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ignore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87568" y="3035808"/>
            <a:ext cx="3182112" cy="7863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687568" y="3035808"/>
            <a:ext cx="13898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$4.45M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077456" y="3127248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 (IBM)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87568" y="3931920"/>
            <a:ext cx="3182112" cy="7863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687568" y="3931920"/>
            <a:ext cx="13898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7077456" y="4023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 to detect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contain a breach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77840" y="4754880"/>
            <a:ext cx="3401568" cy="128016"/>
          </a:xfrm>
          <a:prstGeom prst="rect">
            <a:avLst/>
          </a:prstGeom>
          <a:solidFill>
            <a:srgbClr val="FF4560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464515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exists — but is NOT effective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Proposed Pipeline 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4572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AI-powered secure SDLC — code to deployment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13232"/>
            <a:ext cx="86868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" y="3675888"/>
            <a:ext cx="1609344" cy="1234440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3675888"/>
            <a:ext cx="1609344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Secrets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" y="40416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credential scanning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93392" y="3675888"/>
            <a:ext cx="1609344" cy="1234440"/>
          </a:xfrm>
          <a:prstGeom prst="rect">
            <a:avLst/>
          </a:prstGeom>
          <a:solidFill>
            <a:srgbClr val="152A4A"/>
          </a:solidFill>
          <a:ln w="1524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93392" y="3675888"/>
            <a:ext cx="1609344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4" name="Text 11"/>
          <p:cNvSpPr/>
          <p:nvPr/>
        </p:nvSpPr>
        <p:spPr>
          <a:xfrm>
            <a:off x="206654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Runtime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66544" y="40416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exposure checks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730752" y="3675888"/>
            <a:ext cx="1609344" cy="1234440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0752" y="3675888"/>
            <a:ext cx="1609344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" name="Text 15"/>
          <p:cNvSpPr/>
          <p:nvPr/>
        </p:nvSpPr>
        <p:spPr>
          <a:xfrm>
            <a:off x="380390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03904" y="40416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SCA, CVE scanning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container images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68112" y="3675888"/>
            <a:ext cx="1609344" cy="1234440"/>
          </a:xfrm>
          <a:prstGeom prst="rect">
            <a:avLst/>
          </a:prstGeom>
          <a:solidFill>
            <a:srgbClr val="152A4A"/>
          </a:solidFill>
          <a:ln w="15240">
            <a:solidFill>
              <a:srgbClr val="00C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68112" y="3675888"/>
            <a:ext cx="1609344" cy="64008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22" name="Text 19"/>
          <p:cNvSpPr/>
          <p:nvPr/>
        </p:nvSpPr>
        <p:spPr>
          <a:xfrm>
            <a:off x="554126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41264" y="40416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license risk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SBOM generation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205472" y="3675888"/>
            <a:ext cx="1609344" cy="123444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05472" y="3675888"/>
            <a:ext cx="1609344" cy="64008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26" name="Text 23"/>
          <p:cNvSpPr/>
          <p:nvPr/>
        </p:nvSpPr>
        <p:spPr>
          <a:xfrm>
            <a:off x="727862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78624" y="40416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correlation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root cause + fixes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The Tool Arsenal — What Each Catches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4572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scanners covering every attack vector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31520"/>
            <a:ext cx="1609344" cy="1938528"/>
          </a:xfrm>
          <a:prstGeom prst="rect">
            <a:avLst/>
          </a:prstGeom>
          <a:solidFill>
            <a:srgbClr val="152A4A"/>
          </a:solidFill>
          <a:ln w="1778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31520"/>
            <a:ext cx="1609344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804672"/>
            <a:ext cx="1609344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046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1042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 analysis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1298448"/>
            <a:ext cx="91440" cy="914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261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(CWE-89)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591056"/>
            <a:ext cx="91440" cy="914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554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1883664"/>
            <a:ext cx="91440" cy="914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184708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176272"/>
            <a:ext cx="91440" cy="914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13969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flaws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304288"/>
            <a:ext cx="1609344" cy="365760"/>
          </a:xfrm>
          <a:prstGeom prst="rect">
            <a:avLst/>
          </a:prstGeom>
          <a:solidFill>
            <a:srgbClr val="00A8E8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23042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vulns at commit time — before code merges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93392" y="731520"/>
            <a:ext cx="1609344" cy="1938528"/>
          </a:xfrm>
          <a:prstGeom prst="rect">
            <a:avLst/>
          </a:prstGeom>
          <a:solidFill>
            <a:srgbClr val="152A4A"/>
          </a:solidFill>
          <a:ln w="1778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731520"/>
            <a:ext cx="1609344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1993392" y="804672"/>
            <a:ext cx="1609344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993392" y="8046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93392" y="1042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scanning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84832" y="1298448"/>
            <a:ext cx="91440" cy="914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2212848" y="1261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Azure keys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84832" y="1591056"/>
            <a:ext cx="91440" cy="914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2212848" y="1554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tokens &amp; PATs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84832" y="1883664"/>
            <a:ext cx="91440" cy="914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2212848" y="184708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URIs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84832" y="2176272"/>
            <a:ext cx="91440" cy="914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2212848" y="213969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credentials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93392" y="2304288"/>
            <a:ext cx="1609344" cy="365760"/>
          </a:xfrm>
          <a:prstGeom prst="rect">
            <a:avLst/>
          </a:prstGeom>
          <a:solidFill>
            <a:srgbClr val="FFD166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048256" y="23042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entire Git history — catches keys from months ago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730752" y="731520"/>
            <a:ext cx="1609344" cy="1938528"/>
          </a:xfrm>
          <a:prstGeom prst="rect">
            <a:avLst/>
          </a:prstGeom>
          <a:solidFill>
            <a:srgbClr val="152A4A"/>
          </a:solidFill>
          <a:ln w="1778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30752" y="731520"/>
            <a:ext cx="1609344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9" name="Shape 37"/>
          <p:cNvSpPr/>
          <p:nvPr/>
        </p:nvSpPr>
        <p:spPr>
          <a:xfrm>
            <a:off x="3730752" y="804672"/>
            <a:ext cx="1609344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3730752" y="8046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CLI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30752" y="1042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analysis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22192" y="1298448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3" name="Text 41"/>
          <p:cNvSpPr/>
          <p:nvPr/>
        </p:nvSpPr>
        <p:spPr>
          <a:xfrm>
            <a:off x="3950208" y="1261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endpoints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1591056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5" name="Text 43"/>
          <p:cNvSpPr/>
          <p:nvPr/>
        </p:nvSpPr>
        <p:spPr>
          <a:xfrm>
            <a:off x="3950208" y="15544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 exposure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22192" y="1883664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7" name="Text 45"/>
          <p:cNvSpPr/>
          <p:nvPr/>
        </p:nvSpPr>
        <p:spPr>
          <a:xfrm>
            <a:off x="3950208" y="184708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 limiting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22192" y="2176272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9" name="Text 47"/>
          <p:cNvSpPr/>
          <p:nvPr/>
        </p:nvSpPr>
        <p:spPr>
          <a:xfrm>
            <a:off x="3950208" y="213969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auth (IDOR)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730752" y="2304288"/>
            <a:ext cx="1609344" cy="365760"/>
          </a:xfrm>
          <a:prstGeom prst="rect">
            <a:avLst/>
          </a:prstGeom>
          <a:solidFill>
            <a:srgbClr val="FF8C42">
              <a:alpha val="1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785616" y="23042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#1 attack surface — Bearer covers it fully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24712" y="2834640"/>
            <a:ext cx="1609344" cy="1938528"/>
          </a:xfrm>
          <a:prstGeom prst="rect">
            <a:avLst/>
          </a:prstGeom>
          <a:solidFill>
            <a:srgbClr val="152A4A"/>
          </a:solidFill>
          <a:ln w="1778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124712" y="2834640"/>
            <a:ext cx="1609344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24712" y="2907792"/>
            <a:ext cx="1609344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" name="Text 53"/>
          <p:cNvSpPr/>
          <p:nvPr/>
        </p:nvSpPr>
        <p:spPr>
          <a:xfrm>
            <a:off x="1124712" y="290779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24712" y="314553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+ container CVEs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216152" y="3401568"/>
            <a:ext cx="91440" cy="914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58" name="Text 56"/>
          <p:cNvSpPr/>
          <p:nvPr/>
        </p:nvSpPr>
        <p:spPr>
          <a:xfrm>
            <a:off x="1344168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pip / maven vulns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216152" y="3694176"/>
            <a:ext cx="91440" cy="914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60" name="Text 58"/>
          <p:cNvSpPr/>
          <p:nvPr/>
        </p:nvSpPr>
        <p:spPr>
          <a:xfrm>
            <a:off x="1344168" y="36576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base image CVEs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216152" y="3986784"/>
            <a:ext cx="91440" cy="914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62" name="Text 60"/>
          <p:cNvSpPr/>
          <p:nvPr/>
        </p:nvSpPr>
        <p:spPr>
          <a:xfrm>
            <a:off x="1344168" y="3950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package exploits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216152" y="4279392"/>
            <a:ext cx="91440" cy="914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64" name="Text 62"/>
          <p:cNvSpPr/>
          <p:nvPr/>
        </p:nvSpPr>
        <p:spPr>
          <a:xfrm>
            <a:off x="1344168" y="424281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misconfigurations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124712" y="4407408"/>
            <a:ext cx="1609344" cy="365760"/>
          </a:xfrm>
          <a:prstGeom prst="rect">
            <a:avLst/>
          </a:prstGeom>
          <a:solidFill>
            <a:srgbClr val="00E5A0">
              <a:alpha val="1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179576" y="4407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Log4Shell, Spring4Shell and 100K+ CVEs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862072" y="2834640"/>
            <a:ext cx="1609344" cy="1938528"/>
          </a:xfrm>
          <a:prstGeom prst="rect">
            <a:avLst/>
          </a:prstGeom>
          <a:solidFill>
            <a:srgbClr val="152A4A"/>
          </a:solidFill>
          <a:ln w="17780">
            <a:solidFill>
              <a:srgbClr val="00C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862072" y="2834640"/>
            <a:ext cx="1609344" cy="7315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69" name="Shape 67"/>
          <p:cNvSpPr/>
          <p:nvPr/>
        </p:nvSpPr>
        <p:spPr>
          <a:xfrm>
            <a:off x="2862072" y="2907792"/>
            <a:ext cx="1609344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0" name="Text 68"/>
          <p:cNvSpPr/>
          <p:nvPr/>
        </p:nvSpPr>
        <p:spPr>
          <a:xfrm>
            <a:off x="2862072" y="290779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862072" y="314553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compliance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953512" y="3401568"/>
            <a:ext cx="91440" cy="91440"/>
          </a:xfrm>
          <a:prstGeom prst="ellipse">
            <a:avLst/>
          </a:prstGeom>
          <a:solidFill>
            <a:srgbClr val="00C8D4"/>
          </a:solidFill>
          <a:ln/>
        </p:spPr>
      </p:sp>
      <p:sp>
        <p:nvSpPr>
          <p:cNvPr id="73" name="Text 71"/>
          <p:cNvSpPr/>
          <p:nvPr/>
        </p:nvSpPr>
        <p:spPr>
          <a:xfrm>
            <a:off x="3081528" y="3364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copyleft violations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953512" y="3694176"/>
            <a:ext cx="91440" cy="91440"/>
          </a:xfrm>
          <a:prstGeom prst="ellipse">
            <a:avLst/>
          </a:prstGeom>
          <a:solidFill>
            <a:srgbClr val="00C8D4"/>
          </a:solidFill>
          <a:ln/>
        </p:spPr>
      </p:sp>
      <p:sp>
        <p:nvSpPr>
          <p:cNvPr id="75" name="Text 73"/>
          <p:cNvSpPr/>
          <p:nvPr/>
        </p:nvSpPr>
        <p:spPr>
          <a:xfrm>
            <a:off x="3081528" y="36576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 network clauses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953512" y="3986784"/>
            <a:ext cx="91440" cy="91440"/>
          </a:xfrm>
          <a:prstGeom prst="ellipse">
            <a:avLst/>
          </a:prstGeom>
          <a:solidFill>
            <a:srgbClr val="00C8D4"/>
          </a:solidFill>
          <a:ln/>
        </p:spPr>
      </p:sp>
      <p:sp>
        <p:nvSpPr>
          <p:cNvPr id="77" name="Text 75"/>
          <p:cNvSpPr/>
          <p:nvPr/>
        </p:nvSpPr>
        <p:spPr>
          <a:xfrm>
            <a:off x="3081528" y="3950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conflicts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953512" y="4279392"/>
            <a:ext cx="91440" cy="91440"/>
          </a:xfrm>
          <a:prstGeom prst="ellipse">
            <a:avLst/>
          </a:prstGeom>
          <a:solidFill>
            <a:srgbClr val="00C8D4"/>
          </a:solidFill>
          <a:ln/>
        </p:spPr>
      </p:sp>
      <p:sp>
        <p:nvSpPr>
          <p:cNvPr id="79" name="Text 77"/>
          <p:cNvSpPr/>
          <p:nvPr/>
        </p:nvSpPr>
        <p:spPr>
          <a:xfrm>
            <a:off x="3081528" y="424281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862072" y="4407408"/>
            <a:ext cx="1609344" cy="365760"/>
          </a:xfrm>
          <a:prstGeom prst="rect">
            <a:avLst/>
          </a:prstGeom>
          <a:solidFill>
            <a:srgbClr val="00C8D4">
              <a:alpha val="1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2916936" y="44074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legal risk from OSS usage in proprietary code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468112" y="731520"/>
            <a:ext cx="3493008" cy="4041648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68112" y="731520"/>
            <a:ext cx="3493008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4" name="Text 82"/>
          <p:cNvSpPr/>
          <p:nvPr/>
        </p:nvSpPr>
        <p:spPr>
          <a:xfrm>
            <a:off x="5559552" y="731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Coverage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468112" y="1152144"/>
            <a:ext cx="3493008" cy="329184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86" name="Text 84"/>
          <p:cNvSpPr/>
          <p:nvPr/>
        </p:nvSpPr>
        <p:spPr>
          <a:xfrm>
            <a:off x="5541264" y="1152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61504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991856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522208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052560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9582912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68112" y="1499616"/>
            <a:ext cx="34930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3" name="Text 91"/>
          <p:cNvSpPr/>
          <p:nvPr/>
        </p:nvSpPr>
        <p:spPr>
          <a:xfrm>
            <a:off x="5541264" y="1499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Injection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461504" y="1499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7991856" y="1499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522208" y="1499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9052560" y="1499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582912" y="14996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468112" y="1847088"/>
            <a:ext cx="3493008" cy="329184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00" name="Text 98"/>
          <p:cNvSpPr/>
          <p:nvPr/>
        </p:nvSpPr>
        <p:spPr>
          <a:xfrm>
            <a:off x="5541264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Leakage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461504" y="1847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991856" y="1847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522208" y="1847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9052560" y="1847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9582912" y="1847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468112" y="2194560"/>
            <a:ext cx="34930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7" name="Text 105"/>
          <p:cNvSpPr/>
          <p:nvPr/>
        </p:nvSpPr>
        <p:spPr>
          <a:xfrm>
            <a:off x="5541264" y="2194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Exploits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461504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7991856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8522208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9052560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9582912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468112" y="2542032"/>
            <a:ext cx="3493008" cy="329184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14" name="Text 112"/>
          <p:cNvSpPr/>
          <p:nvPr/>
        </p:nvSpPr>
        <p:spPr>
          <a:xfrm>
            <a:off x="5541264" y="2542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CVEs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461504" y="2542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7991856" y="2542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522208" y="2542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9052560" y="2542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9582912" y="2542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468112" y="2889504"/>
            <a:ext cx="34930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1" name="Text 119"/>
          <p:cNvSpPr/>
          <p:nvPr/>
        </p:nvSpPr>
        <p:spPr>
          <a:xfrm>
            <a:off x="5541264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Risk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7461504" y="2889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7991856" y="2889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522208" y="2889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9052560" y="2889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9582912" y="2889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468112" y="3236976"/>
            <a:ext cx="3493008" cy="329184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28" name="Text 126"/>
          <p:cNvSpPr/>
          <p:nvPr/>
        </p:nvSpPr>
        <p:spPr>
          <a:xfrm>
            <a:off x="5541264" y="32369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Vulns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461504" y="3236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7991856" y="3236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8522208" y="3236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9052560" y="3236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9582912" y="3236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5468112" y="3584448"/>
            <a:ext cx="34930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5" name="Text 133"/>
          <p:cNvSpPr/>
          <p:nvPr/>
        </p:nvSpPr>
        <p:spPr>
          <a:xfrm>
            <a:off x="5541264" y="3584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7461504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7991856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8522208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9052560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9582912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7461504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7991856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8522208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052560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9582912" y="11521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Gauss AI — The Intelligence Layer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4572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scanner noise into precision security intelligence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13232"/>
            <a:ext cx="8686800" cy="36941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462272"/>
            <a:ext cx="8686800" cy="512064"/>
          </a:xfrm>
          <a:prstGeom prst="rect">
            <a:avLst/>
          </a:prstGeom>
          <a:solidFill>
            <a:srgbClr val="152A4A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4480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" y="4480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related findings across all tools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23744" y="4480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28416" y="4480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94% duplicate/false positive alerts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00016" y="4480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04688" y="4480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single fix that resolves a chain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76288" y="4480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Auto-Fix: 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80960" y="4480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code-level fix suggestions instantly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Real-World Impact &amp; Business Value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4572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— developer productivity + breach prevention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13232"/>
            <a:ext cx="521208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713232"/>
            <a:ext cx="3337560" cy="2560320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713232"/>
            <a:ext cx="33375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713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 vs  Your Pipeline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1115568"/>
            <a:ext cx="3337560" cy="402336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12" name="Text 9"/>
          <p:cNvSpPr/>
          <p:nvPr/>
        </p:nvSpPr>
        <p:spPr>
          <a:xfrm>
            <a:off x="5742432" y="111556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47104" y="11155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90+ raw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62672" y="11155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real issues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1536192"/>
            <a:ext cx="33375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5742432" y="153619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time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47104" y="153619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3-5 days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662672" y="15361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 1 hour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69280" y="1956816"/>
            <a:ext cx="3337560" cy="402336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5742432" y="195681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47104" y="19568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Overwhelming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662672" y="19568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Actionable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0" y="2377440"/>
            <a:ext cx="33375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5742432" y="23774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47104" y="237744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Per-tool silos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62672" y="23774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 dash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669280" y="2798064"/>
            <a:ext cx="3337560" cy="402336"/>
          </a:xfrm>
          <a:prstGeom prst="rect">
            <a:avLst/>
          </a:prstGeom>
          <a:solidFill>
            <a:srgbClr val="152A4A"/>
          </a:solidFill>
          <a:ln/>
        </p:spPr>
      </p:sp>
      <p:sp>
        <p:nvSpPr>
          <p:cNvPr id="28" name="Text 25"/>
          <p:cNvSpPr/>
          <p:nvPr/>
        </p:nvSpPr>
        <p:spPr>
          <a:xfrm>
            <a:off x="5742432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47104" y="279806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Reactive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662672" y="27980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Proactive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56032" y="3401568"/>
            <a:ext cx="1627632" cy="1508760"/>
          </a:xfrm>
          <a:prstGeom prst="rect">
            <a:avLst/>
          </a:prstGeom>
          <a:solidFill>
            <a:srgbClr val="152A4A"/>
          </a:solidFill>
          <a:ln w="1524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56032" y="3401568"/>
            <a:ext cx="1627632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3" name="Text 30"/>
          <p:cNvSpPr/>
          <p:nvPr/>
        </p:nvSpPr>
        <p:spPr>
          <a:xfrm>
            <a:off x="256032" y="346557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256032" y="4133088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0" y="3401568"/>
            <a:ext cx="1627632" cy="1508760"/>
          </a:xfrm>
          <a:prstGeom prst="rect">
            <a:avLst/>
          </a:prstGeom>
          <a:solidFill>
            <a:srgbClr val="152A4A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011680" y="3401568"/>
            <a:ext cx="1627632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0" y="346557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2011680" y="4133088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767328" y="3401568"/>
            <a:ext cx="1627632" cy="1508760"/>
          </a:xfrm>
          <a:prstGeom prst="rect">
            <a:avLst/>
          </a:prstGeom>
          <a:solidFill>
            <a:srgbClr val="152A4A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767328" y="3401568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1" name="Text 38"/>
          <p:cNvSpPr/>
          <p:nvPr/>
        </p:nvSpPr>
        <p:spPr>
          <a:xfrm>
            <a:off x="3767328" y="346557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3767328" y="4133088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triage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522976" y="3401568"/>
            <a:ext cx="1627632" cy="1508760"/>
          </a:xfrm>
          <a:prstGeom prst="rect">
            <a:avLst/>
          </a:prstGeom>
          <a:solidFill>
            <a:srgbClr val="152A4A"/>
          </a:solidFill>
          <a:ln w="15240">
            <a:solidFill>
              <a:srgbClr val="B57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522976" y="3401568"/>
            <a:ext cx="1627632" cy="64008"/>
          </a:xfrm>
          <a:prstGeom prst="rect">
            <a:avLst/>
          </a:prstGeom>
          <a:solidFill>
            <a:srgbClr val="B57BEE"/>
          </a:solidFill>
          <a:ln/>
        </p:spPr>
      </p:sp>
      <p:sp>
        <p:nvSpPr>
          <p:cNvPr id="45" name="Text 42"/>
          <p:cNvSpPr/>
          <p:nvPr/>
        </p:nvSpPr>
        <p:spPr>
          <a:xfrm>
            <a:off x="5522976" y="346557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5522976" y="4133088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278624" y="3401568"/>
            <a:ext cx="1627632" cy="1508760"/>
          </a:xfrm>
          <a:prstGeom prst="rect">
            <a:avLst/>
          </a:prstGeom>
          <a:solidFill>
            <a:srgbClr val="152A4A"/>
          </a:solidFill>
          <a:ln w="15240">
            <a:solidFill>
              <a:srgbClr val="00C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7278624" y="3401568"/>
            <a:ext cx="1627632" cy="64008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49" name="Text 46"/>
          <p:cNvSpPr/>
          <p:nvPr/>
        </p:nvSpPr>
        <p:spPr>
          <a:xfrm>
            <a:off x="7278624" y="346557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50" name="Text 47"/>
          <p:cNvSpPr/>
          <p:nvPr/>
        </p:nvSpPr>
        <p:spPr>
          <a:xfrm>
            <a:off x="7278624" y="4133088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91440"/>
            <a:ext cx="2011680" cy="201168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4389120"/>
            <a:ext cx="1645920" cy="164592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023360"/>
            <a:ext cx="1371600" cy="1371600"/>
          </a:xfrm>
          <a:prstGeom prst="ellipse">
            <a:avLst/>
          </a:prstGeom>
          <a:solidFill>
            <a:srgbClr val="00C8D4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64592" cy="1207008"/>
          </a:xfrm>
          <a:prstGeom prst="rect">
            <a:avLst/>
          </a:prstGeom>
          <a:solidFill>
            <a:srgbClr val="00C8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 =  DevSecOps  +  AI  +  Intelligence Layer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scanning — but Understanding  +  Fixing security at scale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22960" cy="822960"/>
          </a:xfrm>
          <a:prstGeom prst="ellipse">
            <a:avLst/>
          </a:prstGeom>
          <a:solidFill>
            <a:srgbClr val="00A8E8">
              <a:alpha val="80000"/>
            </a:srgbClr>
          </a:solidFill>
          <a:ln w="22860">
            <a:solidFill>
              <a:srgbClr val="00A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code, API,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dependency, secret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8992" y="1664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93392" y="1389888"/>
            <a:ext cx="822960" cy="822960"/>
          </a:xfrm>
          <a:prstGeom prst="ellipse">
            <a:avLst/>
          </a:prstGeom>
          <a:solidFill>
            <a:srgbClr val="B57BEE">
              <a:alpha val="80000"/>
            </a:srgbClr>
          </a:solidFill>
          <a:ln w="22860">
            <a:solidFill>
              <a:srgbClr val="B57B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93392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1051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0512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chains related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across tools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16352" y="1664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7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30752" y="1389888"/>
            <a:ext cx="822960" cy="822960"/>
          </a:xfrm>
          <a:prstGeom prst="ellipse">
            <a:avLst/>
          </a:prstGeom>
          <a:solidFill>
            <a:srgbClr val="FFD166">
              <a:alpha val="80000"/>
            </a:srgbClr>
          </a:solidFill>
          <a:ln w="2286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30752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4787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47872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only on real,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 issues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53712" y="1664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68112" y="1389888"/>
            <a:ext cx="822960" cy="822960"/>
          </a:xfrm>
          <a:prstGeom prst="ellipse">
            <a:avLst/>
          </a:prstGeom>
          <a:solidFill>
            <a:srgbClr val="00E5A0">
              <a:alpha val="80000"/>
            </a:srgbClr>
          </a:solidFill>
          <a:ln w="2286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68112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8523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fix suggestions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91072" y="1664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05472" y="1389888"/>
            <a:ext cx="822960" cy="822960"/>
          </a:xfrm>
          <a:prstGeom prst="ellipse">
            <a:avLst/>
          </a:prstGeom>
          <a:solidFill>
            <a:srgbClr val="00C8D4">
              <a:alpha val="80000"/>
            </a:srgbClr>
          </a:solidFill>
          <a:ln w="22860">
            <a:solidFill>
              <a:srgbClr val="00C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05472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2259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22592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learns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over time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182112"/>
            <a:ext cx="8705088" cy="1783080"/>
          </a:xfrm>
          <a:prstGeom prst="rect">
            <a:avLst/>
          </a:prstGeom>
          <a:solidFill>
            <a:srgbClr val="15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3182112"/>
            <a:ext cx="870508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3182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3566160"/>
            <a:ext cx="2029968" cy="256032"/>
          </a:xfrm>
          <a:prstGeom prst="rect">
            <a:avLst/>
          </a:prstGeom>
          <a:solidFill>
            <a:srgbClr val="00E5A0">
              <a:alpha val="7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35661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38404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Secrets · API · SCA · License · AI 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14600" y="3566160"/>
            <a:ext cx="2029968" cy="256032"/>
          </a:xfrm>
          <a:prstGeom prst="rect">
            <a:avLst/>
          </a:prstGeom>
          <a:solidFill>
            <a:srgbClr val="00A8E8">
              <a:alpha val="7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514600" y="35661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9464" y="38404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 · Slack/Jira alerts · Real-time feedback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81728" y="3566160"/>
            <a:ext cx="2029968" cy="256032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681728" y="35661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38404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PRs · Predictive vuln detection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48856" y="3566160"/>
            <a:ext cx="2029968" cy="256032"/>
          </a:xfrm>
          <a:prstGeom prst="rect">
            <a:avLst/>
          </a:prstGeom>
          <a:solidFill>
            <a:srgbClr val="B57BEE">
              <a:alpha val="7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848856" y="35661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8404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pipelines · Zero-touch security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DevSecOps Pipeline  ·  Secure  ·  Intelligent  ·  Developer-First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DevSecOps Pipeline</dc:title>
  <dc:subject>PptxGenJS Presentation</dc:subject>
  <dc:creator>PptxGenJS</dc:creator>
  <cp:lastModifiedBy>PptxGenJS</cp:lastModifiedBy>
  <cp:revision>1</cp:revision>
  <dcterms:created xsi:type="dcterms:W3CDTF">2026-04-06T02:06:03Z</dcterms:created>
  <dcterms:modified xsi:type="dcterms:W3CDTF">2026-04-06T02:06:03Z</dcterms:modified>
</cp:coreProperties>
</file>