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rketsandmarkets.com/Market-Reports/devsecops-market-220019197.html" TargetMode="External"/><Relationship Id="rId2" Type="http://schemas.openxmlformats.org/officeDocument/2006/relationships/hyperlink" Target="https://www.gartner.com/en/information-technology/glossary/devsecop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src.nist.gov/publications/detail/sp/800-218/final" TargetMode="External"/><Relationship Id="rId2" Type="http://schemas.openxmlformats.org/officeDocument/2006/relationships/hyperlink" Target="https://www.cisa.gov/supply-chain-compromise" TargetMode="External"/><Relationship Id="rId3" Type="http://schemas.openxmlformats.org/officeDocument/2006/relationships/hyperlink" Target="https://www.sonatype.com/state-of-the-software-supply-chain/introductio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actions" TargetMode="External"/><Relationship Id="rId2" Type="http://schemas.openxmlformats.org/officeDocument/2006/relationships/hyperlink" Target="https://docs.gitlab.com/ee/ci/" TargetMode="External"/><Relationship Id="rId3" Type="http://schemas.openxmlformats.org/officeDocument/2006/relationships/hyperlink" Target="https://www.jenkins.io/doc/book/pipeline/" TargetMode="External"/><Relationship Id="rId4" Type="http://schemas.openxmlformats.org/officeDocument/2006/relationships/hyperlink" Target="https://docs.microsoft.com/en-us/azure/devops/pipeline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documents/4217299" TargetMode="External"/><Relationship Id="rId2" Type="http://schemas.openxmlformats.org/officeDocument/2006/relationships/hyperlink" Target="https://www.sans.org/white-papers/appsec-survey/" TargetMode="External"/><Relationship Id="rId3" Type="http://schemas.openxmlformats.org/officeDocument/2006/relationships/hyperlink" Target="https://github.com/cncf/tag-security/blob/main/security-whitepaper/v2/cloud-native-security-whitepaper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owaspsamm.org/" TargetMode="External"/><Relationship Id="rId2" Type="http://schemas.openxmlformats.org/officeDocument/2006/relationships/hyperlink" Target="https://csrc.nist.gov/Projects/ssdf" TargetMode="External"/><Relationship Id="rId3" Type="http://schemas.openxmlformats.org/officeDocument/2006/relationships/hyperlink" Target="https://falco.org/docs/" TargetMode="External"/><Relationship Id="rId4" Type="http://schemas.openxmlformats.org/officeDocument/2006/relationships/hyperlink" Target="https://trivy.dev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src.nist.gov/publications/detail/sp/800-207/final" TargetMode="External"/><Relationship Id="rId2" Type="http://schemas.openxmlformats.org/officeDocument/2006/relationships/hyperlink" Target="https://www.cisecurity.org/cis-benchmarks" TargetMode="External"/><Relationship Id="rId3" Type="http://schemas.openxmlformats.org/officeDocument/2006/relationships/hyperlink" Target="https://www.pcisecuritystandards.org/document_library/" TargetMode="External"/><Relationship Id="rId4" Type="http://schemas.openxmlformats.org/officeDocument/2006/relationships/hyperlink" Target="https://www.openpolicyagent.org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snyk.io/" TargetMode="External"/><Relationship Id="rId2" Type="http://schemas.openxmlformats.org/officeDocument/2006/relationships/hyperlink" Target="https://checkmarx.com/" TargetMode="External"/><Relationship Id="rId3" Type="http://schemas.openxmlformats.org/officeDocument/2006/relationships/hyperlink" Target="https://www.checkov.io/" TargetMode="External"/><Relationship Id="rId4" Type="http://schemas.openxmlformats.org/officeDocument/2006/relationships/hyperlink" Target="https://kubescape.io/" TargetMode="External"/><Relationship Id="rId5" Type="http://schemas.openxmlformats.org/officeDocument/2006/relationships/hyperlink" Target="https://www.wiz.io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owasp.org/www-project-top-10-for-large-language-model-applications/" TargetMode="External"/><Relationship Id="rId2" Type="http://schemas.openxmlformats.org/officeDocument/2006/relationships/hyperlink" Target="https://www.nist.gov/system/files/documents/2023/01/26/AI RMF 1.0.pdf" TargetMode="External"/><Relationship Id="rId3" Type="http://schemas.openxmlformats.org/officeDocument/2006/relationships/hyperlink" Target="https://arxiv.org/abs/2211.0362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documents/hype-cycle" TargetMode="External"/><Relationship Id="rId2" Type="http://schemas.openxmlformats.org/officeDocument/2006/relationships/hyperlink" Target="https://www.cncf.io/reports/cncf-annual-survey-2023/" TargetMode="External"/><Relationship Id="rId3" Type="http://schemas.openxmlformats.org/officeDocument/2006/relationships/hyperlink" Target="https://www.mckinsey.com/capabilities/mckinsey-digital/our-insights/developer-velocit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164592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Landscape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–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Security Across the Entire Software Delivery Lifecycle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9202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265176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(2025–26)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606040"/>
            <a:ext cx="19202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265176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87752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Adoption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606040"/>
            <a:ext cx="192024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65176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45152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Pipeline Security Growth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2606040"/>
            <a:ext cx="19202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02552" y="265176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02552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Double-Digit to 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CC"/>
                </a:solidFill>
              </a:rPr>
              <a:t>DevSecOps Market Report  </a:t>
            </a:r>
            <a:pPr indent="0" marL="0">
              <a:buNone/>
            </a:pPr>
            <a:r>
              <a:rPr lang="en-US" sz="90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MarketsandMarkets</a:t>
            </a:r>
            <a:pPr indent="0" marL="0">
              <a:buNone/>
            </a:pPr>
            <a:r>
              <a:rPr lang="en-US" sz="900" dirty="0">
                <a:solidFill>
                  <a:srgbClr val="8BB8CC"/>
                </a:solidFill>
              </a:rPr>
              <a:t>  |  </a:t>
            </a:r>
            <a:pPr indent="0" marL="0">
              <a:buNone/>
            </a:pPr>
            <a:r>
              <a:rPr lang="en-US" sz="900" u="sng" dirty="0">
                <a:solidFill>
                  <a:srgbClr val="02C39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DevSecOps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DevSecOps Market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reshaping security in the modern SDLC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349240" cy="34747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cyberattacks and software supply-chain incidents are pushing organisations to integrate security into planning, coding, and build stages—not just production.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architectures (microservices, containers, Kubernetes) are the primary DevSecOps context, demanding scalable and automated security controls.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is now standard: SAST, SCA, secrets detection, and IaC scanning are wired into CI/CD to catch issues at commit/PR time.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supply-chain security (SBOMs, dependency risk, signing) is a priority area, driven by high-profile OSS and CI/CD compromises.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155448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234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52160" y="1664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Attacks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(2019–2022)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543800" y="1188720"/>
            <a:ext cx="155448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1234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1664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Adoption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438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orgs use CI/CD scanning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2468880"/>
            <a:ext cx="15544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/ SBOM Usage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track OSS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543800" y="2468880"/>
            <a:ext cx="15544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4380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438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vuln detection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SP 800-218 (SSDF)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Supply-Chain Guidance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Sonatype State of OSS 2023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Cloud-Native, CI/CD &amp; Security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as the security control plane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0" cy="23774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platforms (Jenkins, GitHub Actions, GitLab CI/CD, Azure DevOps) are the backbone for embedding automated security checks.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pipelines align security controls to lifecycle stages with explicit gates and evidence collection.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testing (SAST, SCA, DAST, container/IaC scans) runs as part of builds and pull requests.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DevSecOps platforms enable standardised pipelines and continuous compliance across teams and regions.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PIPELINE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38587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  → </a:t>
            </a:r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Commit / PR  → </a:t>
            </a:r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CI: Build + SAST + SCA + Secrets  → </a:t>
            </a:r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 / IaC Scans  → </a:t>
            </a:r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Policy Gate  → </a:t>
            </a:r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Staging DAST  → </a:t>
            </a:r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 + Runtime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383280" cy="2286000"/>
          </a:xfrm>
          <a:prstGeom prst="rect">
            <a:avLst/>
          </a:prstGeom>
          <a:solidFill>
            <a:srgbClr val="E8F4FB"/>
          </a:solidFill>
          <a:ln w="12700">
            <a:solidFill>
              <a:srgbClr val="BDD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CI/CD Platforms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609344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591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1956816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2304288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2651760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2999232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(GitOps)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Actions Docs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GitLab CI/CD Docs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Jenkins Pipeline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DevOps Pipelines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Adoption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slowing organisations down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9144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Sprawl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scanners (SAST, DAST, SCA, container, IaC, CSPM, CNAPP) produce overlapping, unprioritised alerts.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234440"/>
            <a:ext cx="91440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Fatigue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3677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struggle to distinguish exploitable risks from noise, leading to missed critical issues or blocked pipelines.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Culture Gaps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lack AppSec, cloud-native, and automation expertise, slowing effective DevSecOps rollout.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8346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834640"/>
            <a:ext cx="914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Pressure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23697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expect continuous validation and evidence, not point-in-time audits, forcing process and tooling changes.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ASPM Guide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SANS AppSec Survey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CNCF Security Whitepaper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Secure SDLC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reduces cost; shift-right informs future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520440"/>
          </a:xfrm>
          <a:prstGeom prst="rect">
            <a:avLst/>
          </a:prstGeom>
          <a:solidFill>
            <a:srgbClr val="E8F4FB"/>
          </a:solidFill>
          <a:ln w="12700">
            <a:solidFill>
              <a:srgbClr val="BDD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1188720"/>
            <a:ext cx="4251960" cy="3520440"/>
          </a:xfrm>
          <a:prstGeom prst="rect">
            <a:avLst/>
          </a:prstGeom>
          <a:solidFill>
            <a:srgbClr val="EBF9F4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⬅  SHIFT-LEFT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572768"/>
            <a:ext cx="388620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SDLC: link security activities (threat modelling, secure coding standards, SAST/SCA, DAST) to SDLC stages and track evidence.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SAST and SCA on every commit/PR; enforce repo rules and branch protections.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IaC (Terraform / CloudFormation) and container images before deployment.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secrets detection and dependency pinning into pre-commit hooks.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2519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➡  SHIFT-RIGHT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0872" y="1572768"/>
            <a:ext cx="402336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runtime tools (Falco, Wiz, Trivy, Kubescape) to detect misconfigurations, anomalies, and active threats in Kubernetes and cloud workloads.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production incidents and drift data back into threat models and policies.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runtime detection of excessive S3 permissions → update IaC modules → CI checks block misconfigured buckets pre-prod.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SAMM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Secure Software Development Framework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Falco Runtime Security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Trivy Scanner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Trust, Compliance &amp; Governance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controls as code, not documents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212080" cy="34290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 DevSecOps: identity-centric access, least privilege, and micro-segmentation across services, clusters, and CI/CD components.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and compliance-as-code: encode controls for CIS, NIST, PCI etc. into reusable policies enforced on IaC, pipelines, and runtime environments.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requires inventories and traceability: map vulnerabilities and controls back to assets, owners, and environments.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defines required activities and evidence; DevSecOps ensures they run continuously in pipelines and production.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34440"/>
          <a:ext cx="324612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SDLC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DevSecOps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modelling, risk register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SCA, SBOM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DAST, API security, release 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evidence,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CSPM, runtime monitoring,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Zero Trust Architecture (SP 800-207)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 Benchmarks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PCI DSS v4.0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Policy Agent (OPA)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Toolchain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GitOps-style pipeline with supply-chain trust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914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Orchestration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· GitHub Actions · GitLab CI/CD · Azure DevOps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234440"/>
            <a:ext cx="91440" cy="10058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&amp; App Security (SAST/DAST/SCA)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 · Snyk · Semgrep · OWASP ZAP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0008"/>
            <a:ext cx="914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&amp; Kubernetes Security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15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Falco · Wiz · Kubescape · Aqua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35000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350008"/>
            <a:ext cx="914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15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· tfsec · Snyk IaC · AccuKnox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65576"/>
            <a:ext cx="9144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ASPM / Code-to-Cloud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· Snyk · Veracode · Seemplicity · Apiiro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465576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465576"/>
            <a:ext cx="91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Runtime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831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Datadog · OpenTelemetry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Snyk Developer Security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Checkmarx SAST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Checkov IaC Scanner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Kubescape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Wiz Cloud Security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00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in DevSecOps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risks, and governance considerations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520440"/>
          </a:xfrm>
          <a:prstGeom prst="rect">
            <a:avLst/>
          </a:prstGeom>
          <a:solidFill>
            <a:srgbClr val="EBF9F4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AI BENEFITS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388620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detection and log/telemetry anomaly detection.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prioritisation based on exploitability, asset criticality, and runtime exposure — reducing noise.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tools improve mean time to remediation (MTTR).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copilots generate tests, recommend remediations, and orchestrate playbooks.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251960" cy="3520440"/>
          </a:xfrm>
          <a:prstGeom prst="rect">
            <a:avLst/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188720"/>
            <a:ext cx="4251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AI RISKS &amp; GOVERNANCE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0872" y="1572768"/>
            <a:ext cx="402336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45–62% of AI-generated code solutions reported to contain security vulnerabilities.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(unsanctioned GenAI tools) can lead to data leakage and non-compliant processing.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 highlights: prompt injection, data exfiltration, insecure plugin ecosystems.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coding assistants as 'junior devs': their output must pass the same SAST/SCA/review gates.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enforce policies for allowed AI tools and data handling via DLP/CASB controls.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BF4FA"/>
          </a:solidFill>
          <a:ln w="6350">
            <a:solidFill>
              <a:srgbClr val="BDD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18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References: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LLM Top 10 (2025)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AI Risk Management Framework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  |  </a:t>
            </a:r>
            <a:pPr indent="0" marL="0">
              <a:buNone/>
            </a:pPr>
            <a:r>
              <a:rPr lang="en-US" sz="800" u="sng" dirty="0">
                <a:solidFill>
                  <a:srgbClr val="1C729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GitHubCopilot Security Study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of DevSecOps: Autonomous &amp; Predictive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69080" cy="1371600"/>
          </a:xfrm>
          <a:prstGeom prst="rect">
            <a:avLst/>
          </a:prstGeom>
          <a:solidFill>
            <a:srgbClr val="13294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35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Security &amp; Self-Healing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platforms will auto-remediate: block malicious pods, revoke keys, or roll back unsafe releases without human intervention.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69080" cy="1371600"/>
          </a:xfrm>
          <a:prstGeom prst="rect">
            <a:avLst/>
          </a:prstGeom>
          <a:solidFill>
            <a:srgbClr val="132940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325880"/>
            <a:ext cx="406908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35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8013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historical changes and incidents will flag risky commits, suggest secure patterns, and pre-compute hot spots before code is merged.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069080" cy="1371600"/>
          </a:xfrm>
          <a:prstGeom prst="rect">
            <a:avLst/>
          </a:prstGeom>
          <a:solidFill>
            <a:srgbClr val="132940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4640"/>
            <a:ext cx="406908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Pipelines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1012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copilots will generate tests, recommend remediations, and orchestrate playbooks—turning security into a collaborative developer assistant.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834640"/>
            <a:ext cx="4069080" cy="1371600"/>
          </a:xfrm>
          <a:prstGeom prst="rect">
            <a:avLst/>
          </a:prstGeom>
          <a:solidFill>
            <a:srgbClr val="132940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834640"/>
            <a:ext cx="406908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Convergence (ASPM)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Code-to-cloud platforms will become the primary DevSecOps fabric, consolidating toolchains, policies, and evidence across code, cloud, and runtime.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8CC"/>
                </a:solidFill>
              </a:rPr>
              <a:t>Ref: </a:t>
            </a:r>
            <a:pPr indent="0" marL="0">
              <a:buNone/>
            </a:pPr>
            <a:r>
              <a:rPr lang="en-US" sz="850" u="sng" dirty="0">
                <a:solidFill>
                  <a:srgbClr val="02C39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2025 DevSecOps Hype Cycle</a:t>
            </a:r>
            <a:pPr indent="0" marL="0">
              <a:buNone/>
            </a:pPr>
            <a:r>
              <a:rPr lang="en-US" sz="850" dirty="0">
                <a:solidFill>
                  <a:srgbClr val="8BB8CC"/>
                </a:solidFill>
              </a:rPr>
              <a:t>  |  </a:t>
            </a:r>
            <a:pPr indent="0" marL="0">
              <a:buNone/>
            </a:pPr>
            <a:r>
              <a:rPr lang="en-US" sz="850" u="sng" dirty="0">
                <a:solidFill>
                  <a:srgbClr val="02C39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CNCF Annual Survey</a:t>
            </a:r>
            <a:pPr indent="0" marL="0">
              <a:buNone/>
            </a:pPr>
            <a:r>
              <a:rPr lang="en-US" sz="850" dirty="0">
                <a:solidFill>
                  <a:srgbClr val="8BB8CC"/>
                </a:solidFill>
              </a:rPr>
              <a:t>  |  </a:t>
            </a:r>
            <a:pPr indent="0" marL="0">
              <a:buNone/>
            </a:pPr>
            <a:r>
              <a:rPr lang="en-US" sz="850" u="sng" dirty="0">
                <a:solidFill>
                  <a:srgbClr val="02C39A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McKinsey: DevSecOps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Landscape 2025–2026</dc:title>
  <dc:subject>PptxGenJS Presentation</dc:subject>
  <dc:creator>DevSecOps Team</dc:creator>
  <cp:lastModifiedBy>DevSecOps Team</cp:lastModifiedBy>
  <cp:revision>1</cp:revision>
  <dcterms:created xsi:type="dcterms:W3CDTF">2026-04-22T06:27:31Z</dcterms:created>
  <dcterms:modified xsi:type="dcterms:W3CDTF">2026-04-22T06:27:31Z</dcterms:modified>
</cp:coreProperties>
</file>